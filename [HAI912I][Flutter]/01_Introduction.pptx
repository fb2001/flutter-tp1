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  <p:sldMasterId id="2147483661" r:id="rId4"/>
  </p:sldMasterIdLst>
  <p:notesMasterIdLst>
    <p:notesMasterId r:id="rId32"/>
  </p:notesMasterIdLst>
  <p:sldIdLst>
    <p:sldId id="256" r:id="rId5"/>
    <p:sldId id="257" r:id="rId6"/>
    <p:sldId id="323" r:id="rId7"/>
    <p:sldId id="327" r:id="rId8"/>
    <p:sldId id="329" r:id="rId9"/>
    <p:sldId id="330" r:id="rId10"/>
    <p:sldId id="331" r:id="rId11"/>
    <p:sldId id="334" r:id="rId12"/>
    <p:sldId id="333" r:id="rId13"/>
    <p:sldId id="350" r:id="rId14"/>
    <p:sldId id="338" r:id="rId15"/>
    <p:sldId id="339" r:id="rId16"/>
    <p:sldId id="340" r:id="rId17"/>
    <p:sldId id="335" r:id="rId18"/>
    <p:sldId id="336" r:id="rId19"/>
    <p:sldId id="337" r:id="rId20"/>
    <p:sldId id="343" r:id="rId21"/>
    <p:sldId id="349" r:id="rId22"/>
    <p:sldId id="345" r:id="rId23"/>
    <p:sldId id="341" r:id="rId24"/>
    <p:sldId id="342" r:id="rId25"/>
    <p:sldId id="351" r:id="rId26"/>
    <p:sldId id="344" r:id="rId27"/>
    <p:sldId id="346" r:id="rId28"/>
    <p:sldId id="348" r:id="rId29"/>
    <p:sldId id="347" r:id="rId30"/>
    <p:sldId id="328" r:id="rId31"/>
  </p:sldIdLst>
  <p:sldSz cx="12192000" cy="6858000"/>
  <p:notesSz cx="7772400" cy="10058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E2083-B1FA-422F-A392-CA9585CBF343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84A16-2691-49BF-A60E-61C68FD24A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88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84A16-2691-49BF-A60E-61C68FD24A1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83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84A16-2691-49BF-A60E-61C68FD24A17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49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/>
          <p:cNvSpPr/>
          <p:nvPr/>
        </p:nvSpPr>
        <p:spPr>
          <a:xfrm rot="5400000">
            <a:off x="5948280" y="614520"/>
            <a:ext cx="282960" cy="12201120"/>
          </a:xfrm>
          <a:prstGeom prst="rect">
            <a:avLst/>
          </a:prstGeom>
          <a:solidFill>
            <a:srgbClr val="CA1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2" name="Image 9"/>
          <p:cNvPicPr/>
          <p:nvPr/>
        </p:nvPicPr>
        <p:blipFill>
          <a:blip r:embed="rId14"/>
          <a:stretch/>
        </p:blipFill>
        <p:spPr>
          <a:xfrm>
            <a:off x="480960" y="473760"/>
            <a:ext cx="1488960" cy="500040"/>
          </a:xfrm>
          <a:prstGeom prst="rect">
            <a:avLst/>
          </a:prstGeom>
          <a:ln>
            <a:noFill/>
          </a:ln>
        </p:spPr>
      </p:pic>
      <p:pic>
        <p:nvPicPr>
          <p:cNvPr id="2" name="Image 32"/>
          <p:cNvPicPr/>
          <p:nvPr/>
        </p:nvPicPr>
        <p:blipFill>
          <a:blip r:embed="rId15"/>
          <a:srcRect l="16959" t="307" r="18728"/>
          <a:stretch/>
        </p:blipFill>
        <p:spPr>
          <a:xfrm>
            <a:off x="5732280" y="-7560"/>
            <a:ext cx="6457320" cy="6684840"/>
          </a:xfrm>
          <a:prstGeom prst="rect">
            <a:avLst/>
          </a:prstGeom>
          <a:ln>
            <a:noFill/>
          </a:ln>
        </p:spPr>
      </p:pic>
      <p:sp>
        <p:nvSpPr>
          <p:cNvPr id="3" name="CustomShape 2"/>
          <p:cNvSpPr/>
          <p:nvPr/>
        </p:nvSpPr>
        <p:spPr>
          <a:xfrm>
            <a:off x="1440" y="-1440"/>
            <a:ext cx="5743080" cy="6575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CustomShape 3"/>
          <p:cNvSpPr/>
          <p:nvPr/>
        </p:nvSpPr>
        <p:spPr>
          <a:xfrm>
            <a:off x="11907360" y="-1440"/>
            <a:ext cx="291240" cy="6575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CustomShape 4"/>
          <p:cNvSpPr/>
          <p:nvPr/>
        </p:nvSpPr>
        <p:spPr>
          <a:xfrm rot="5400000">
            <a:off x="5949000" y="613800"/>
            <a:ext cx="281520" cy="12201120"/>
          </a:xfrm>
          <a:prstGeom prst="rect">
            <a:avLst/>
          </a:prstGeom>
          <a:solidFill>
            <a:srgbClr val="CA1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Image 38"/>
          <p:cNvPicPr/>
          <p:nvPr/>
        </p:nvPicPr>
        <p:blipFill>
          <a:blip r:embed="rId14"/>
          <a:stretch/>
        </p:blipFill>
        <p:spPr>
          <a:xfrm>
            <a:off x="480960" y="473760"/>
            <a:ext cx="1488960" cy="500040"/>
          </a:xfrm>
          <a:prstGeom prst="rect">
            <a:avLst/>
          </a:prstGeom>
          <a:ln>
            <a:noFill/>
          </a:ln>
        </p:spPr>
      </p:pic>
      <p:sp>
        <p:nvSpPr>
          <p:cNvPr id="7" name="CustomShape 5"/>
          <p:cNvSpPr/>
          <p:nvPr/>
        </p:nvSpPr>
        <p:spPr>
          <a:xfrm rot="5400000">
            <a:off x="5948280" y="614520"/>
            <a:ext cx="282960" cy="12201120"/>
          </a:xfrm>
          <a:prstGeom prst="rect">
            <a:avLst/>
          </a:prstGeom>
          <a:solidFill>
            <a:srgbClr val="CA1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CustomShape 6"/>
          <p:cNvSpPr/>
          <p:nvPr/>
        </p:nvSpPr>
        <p:spPr>
          <a:xfrm>
            <a:off x="5732280" y="-4320"/>
            <a:ext cx="523080" cy="657504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10" name="PlaceHolder 8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 rot="5400000">
            <a:off x="5948280" y="614520"/>
            <a:ext cx="282960" cy="12201120"/>
          </a:xfrm>
          <a:prstGeom prst="rect">
            <a:avLst/>
          </a:prstGeom>
          <a:solidFill>
            <a:srgbClr val="CA1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8" name="Image 9"/>
          <p:cNvPicPr/>
          <p:nvPr/>
        </p:nvPicPr>
        <p:blipFill>
          <a:blip r:embed="rId14"/>
          <a:stretch/>
        </p:blipFill>
        <p:spPr>
          <a:xfrm>
            <a:off x="480960" y="473760"/>
            <a:ext cx="1488960" cy="500040"/>
          </a:xfrm>
          <a:prstGeom prst="rect">
            <a:avLst/>
          </a:prstGeom>
          <a:ln>
            <a:noFill/>
          </a:ln>
        </p:spPr>
      </p:pic>
      <p:sp>
        <p:nvSpPr>
          <p:cNvPr id="49" name="CustomShape 2"/>
          <p:cNvSpPr/>
          <p:nvPr/>
        </p:nvSpPr>
        <p:spPr>
          <a:xfrm>
            <a:off x="-11520" y="0"/>
            <a:ext cx="12202920" cy="1521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0" name="Image 11"/>
          <p:cNvPicPr/>
          <p:nvPr/>
        </p:nvPicPr>
        <p:blipFill>
          <a:blip r:embed="rId14"/>
          <a:stretch/>
        </p:blipFill>
        <p:spPr>
          <a:xfrm>
            <a:off x="480960" y="473760"/>
            <a:ext cx="1488960" cy="500040"/>
          </a:xfrm>
          <a:prstGeom prst="rect">
            <a:avLst/>
          </a:prstGeom>
          <a:ln>
            <a:noFill/>
          </a:ln>
        </p:spPr>
      </p:pic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fr-FR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4cUxeGkcC9jLYyp2Aoh6hcWuxFDX6PBJ" TargetMode="External"/><Relationship Id="rId2" Type="http://schemas.openxmlformats.org/officeDocument/2006/relationships/hyperlink" Target="https://docs.flutter.dev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401039" y="1758174"/>
            <a:ext cx="5296375" cy="16909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fr-FR" sz="30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3000" b="0" strike="noStrike" spc="-1" dirty="0">
              <a:latin typeface="Arial"/>
            </a:endParaRPr>
          </a:p>
        </p:txBody>
      </p:sp>
      <p:pic>
        <p:nvPicPr>
          <p:cNvPr id="134" name="Image 3"/>
          <p:cNvPicPr/>
          <p:nvPr/>
        </p:nvPicPr>
        <p:blipFill>
          <a:blip r:embed="rId2"/>
          <a:stretch/>
        </p:blipFill>
        <p:spPr>
          <a:xfrm>
            <a:off x="4374000" y="342360"/>
            <a:ext cx="779760" cy="752040"/>
          </a:xfrm>
          <a:prstGeom prst="rect">
            <a:avLst/>
          </a:prstGeom>
          <a:ln>
            <a:noFill/>
          </a:ln>
        </p:spPr>
      </p:pic>
      <p:sp>
        <p:nvSpPr>
          <p:cNvPr id="137" name="CustomShape 3"/>
          <p:cNvSpPr/>
          <p:nvPr/>
        </p:nvSpPr>
        <p:spPr>
          <a:xfrm>
            <a:off x="1688400" y="5702169"/>
            <a:ext cx="2178720" cy="54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fr-FR" sz="25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04/11/202</a:t>
            </a:r>
            <a:r>
              <a:rPr lang="fr-FR" sz="2500" b="1" spc="-1" dirty="0">
                <a:solidFill>
                  <a:srgbClr val="FFFFFF"/>
                </a:solidFill>
                <a:latin typeface="Century Gothic"/>
                <a:ea typeface="Euclid Flex B Medium"/>
              </a:rPr>
              <a:t>5</a:t>
            </a:r>
            <a:endParaRPr lang="fr-FR" sz="2500" b="0" strike="noStrike" spc="-1" dirty="0">
              <a:latin typeface="Arial"/>
            </a:endParaRPr>
          </a:p>
        </p:txBody>
      </p:sp>
      <p:sp>
        <p:nvSpPr>
          <p:cNvPr id="138" name="CustomShape 4"/>
          <p:cNvSpPr/>
          <p:nvPr/>
        </p:nvSpPr>
        <p:spPr>
          <a:xfrm>
            <a:off x="1511280" y="3565165"/>
            <a:ext cx="2532600" cy="54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fr-FR" sz="25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Bachar RIMA</a:t>
            </a:r>
            <a:endParaRPr lang="fr-FR" sz="2500" b="0" strike="noStrike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B1F931-232C-67A1-7239-774EF25D9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87" y="351800"/>
            <a:ext cx="673673" cy="822042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DC20A056-BAE0-8664-A87A-54A611A9C7B4}"/>
              </a:ext>
            </a:extLst>
          </p:cNvPr>
          <p:cNvSpPr/>
          <p:nvPr/>
        </p:nvSpPr>
        <p:spPr>
          <a:xfrm>
            <a:off x="931112" y="4359607"/>
            <a:ext cx="3832768" cy="4977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fr-FR" sz="20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Berger-Levrault DRIT</a:t>
            </a:r>
            <a:br>
              <a:rPr lang="fr-FR" sz="20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</a:br>
            <a:r>
              <a:rPr lang="fr-FR" sz="20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LIRMM (MAREL)</a:t>
            </a:r>
            <a:endParaRPr lang="fr-FR" sz="20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2299680" y="485640"/>
            <a:ext cx="9315360" cy="62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Sommaire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480960" y="1738440"/>
            <a:ext cx="11133720" cy="4438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5760" indent="-45504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fr-FR" sz="1800" b="1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Background</a:t>
            </a:r>
            <a:endParaRPr lang="fr-FR" sz="1800" b="0" strike="noStrike" spc="-1" dirty="0">
              <a:latin typeface="Arial"/>
            </a:endParaRPr>
          </a:p>
          <a:p>
            <a:pPr marL="533520" lvl="1" indent="-266040">
              <a:spcBef>
                <a:spcPts val="320"/>
              </a:spcBef>
              <a:buBlip>
                <a:blip r:embed="rId3"/>
              </a:buBlip>
            </a:pPr>
            <a:r>
              <a:rPr lang="fr-FR" sz="1600" b="0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Développement mobile natif</a:t>
            </a:r>
          </a:p>
          <a:p>
            <a:pPr marL="533520" lvl="1" indent="-266040">
              <a:lnSpc>
                <a:spcPct val="100000"/>
              </a:lnSpc>
              <a:spcBef>
                <a:spcPts val="320"/>
              </a:spcBef>
              <a:buBlip>
                <a:blip r:embed="rId3"/>
              </a:buBlip>
            </a:pPr>
            <a:r>
              <a:rPr lang="fr-FR" sz="1600" b="0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Développement mobile multiplateforme</a:t>
            </a:r>
          </a:p>
          <a:p>
            <a:pPr marL="533520" lvl="1" indent="-266040">
              <a:lnSpc>
                <a:spcPct val="100000"/>
              </a:lnSpc>
              <a:spcBef>
                <a:spcPts val="320"/>
              </a:spcBef>
              <a:buBlip>
                <a:blip r:embed="rId3"/>
              </a:buBlip>
            </a:pPr>
            <a:r>
              <a:rPr lang="fr-FR" sz="1600" spc="-1" dirty="0">
                <a:solidFill>
                  <a:srgbClr val="000000"/>
                </a:solidFill>
                <a:latin typeface="Century Gothic"/>
                <a:ea typeface="Arial"/>
              </a:rPr>
              <a:t>Comment choisir entre développement natif et multiplateforme ?</a:t>
            </a:r>
            <a:endParaRPr lang="fr-FR" sz="1600" spc="-1" dirty="0">
              <a:solidFill>
                <a:srgbClr val="000000"/>
              </a:solidFill>
              <a:latin typeface="Arial"/>
              <a:ea typeface="Arial"/>
            </a:endParaRPr>
          </a:p>
          <a:p>
            <a:pPr marL="455760" indent="-45504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fr-FR" sz="1800" b="1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Aperçu</a:t>
            </a:r>
            <a:endParaRPr lang="fr-FR" sz="1800" b="0" strike="noStrike" spc="-1" dirty="0">
              <a:latin typeface="Arial"/>
            </a:endParaRPr>
          </a:p>
          <a:p>
            <a:pPr marL="533520" lvl="1" indent="-266040">
              <a:lnSpc>
                <a:spcPct val="100000"/>
              </a:lnSpc>
              <a:spcBef>
                <a:spcPts val="320"/>
              </a:spcBef>
              <a:buBlip>
                <a:blip r:embed="rId3"/>
              </a:buBlip>
            </a:pPr>
            <a:r>
              <a:rPr lang="fr-FR" sz="1600" b="0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C’est quoi Flutter ?</a:t>
            </a:r>
            <a:endParaRPr lang="fr-FR" sz="1600" b="0" strike="noStrike" spc="-1" dirty="0">
              <a:latin typeface="Arial"/>
            </a:endParaRPr>
          </a:p>
          <a:p>
            <a:pPr marL="533520" lvl="1" indent="-266040">
              <a:lnSpc>
                <a:spcPct val="100000"/>
              </a:lnSpc>
              <a:spcBef>
                <a:spcPts val="320"/>
              </a:spcBef>
              <a:buBlip>
                <a:blip r:embed="rId3"/>
              </a:buBlip>
            </a:pPr>
            <a:r>
              <a:rPr lang="fr-FR" sz="1600" b="0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Pourquoi Flutter ?</a:t>
            </a:r>
          </a:p>
          <a:p>
            <a:pPr marL="455760" indent="-45504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fr-FR" sz="1800" b="1" strike="noStrike" spc="-1" dirty="0">
                <a:solidFill>
                  <a:srgbClr val="000000"/>
                </a:solidFill>
                <a:latin typeface="Century Gothic"/>
                <a:ea typeface="Arial"/>
              </a:rPr>
              <a:t>Dart</a:t>
            </a:r>
          </a:p>
          <a:p>
            <a:pPr marL="533520" lvl="1" indent="-266040">
              <a:spcBef>
                <a:spcPts val="320"/>
              </a:spcBef>
              <a:buBlip>
                <a:blip r:embed="rId3"/>
              </a:buBlip>
            </a:pPr>
            <a:r>
              <a:rPr lang="fr-FR" sz="1600" spc="-1" dirty="0">
                <a:solidFill>
                  <a:srgbClr val="000000"/>
                </a:solidFill>
                <a:latin typeface="Century Gothic"/>
              </a:rPr>
              <a:t>Introduction</a:t>
            </a:r>
          </a:p>
          <a:p>
            <a:pPr marL="533520" lvl="1" indent="-266040">
              <a:spcBef>
                <a:spcPts val="320"/>
              </a:spcBef>
              <a:buBlip>
                <a:blip r:embed="rId3"/>
              </a:buBlip>
            </a:pPr>
            <a:r>
              <a:rPr lang="fr-FR" sz="1600" spc="-1" dirty="0">
                <a:solidFill>
                  <a:srgbClr val="000000"/>
                </a:solidFill>
                <a:latin typeface="Century Gothic"/>
              </a:rPr>
              <a:t>Syntaxe de base (crash course)</a:t>
            </a:r>
          </a:p>
          <a:p>
            <a:pPr marL="533520" lvl="1" indent="-266040">
              <a:spcBef>
                <a:spcPts val="320"/>
              </a:spcBef>
              <a:buBlip>
                <a:blip r:embed="rId3"/>
              </a:buBlip>
            </a:pPr>
            <a:r>
              <a:rPr lang="fr-FR" sz="1600" spc="-1" dirty="0">
                <a:solidFill>
                  <a:srgbClr val="000000"/>
                </a:solidFill>
                <a:latin typeface="Century Gothic"/>
              </a:rPr>
              <a:t>Programmation orientée-objet (crash course)</a:t>
            </a:r>
            <a:endParaRPr lang="fr-FR" sz="1600" b="1" strike="noStrike" spc="-1" dirty="0">
              <a:solidFill>
                <a:srgbClr val="000000"/>
              </a:solidFill>
              <a:latin typeface="Century Gothic"/>
              <a:ea typeface="Arial"/>
            </a:endParaRPr>
          </a:p>
          <a:p>
            <a:pPr marL="455760" indent="-45504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fr-FR" sz="1800" b="1" spc="-1" dirty="0">
                <a:solidFill>
                  <a:srgbClr val="000000"/>
                </a:solidFill>
                <a:latin typeface="Arial"/>
                <a:ea typeface="Arial"/>
              </a:rPr>
              <a:t>Références</a:t>
            </a:r>
          </a:p>
        </p:txBody>
      </p:sp>
      <p:sp>
        <p:nvSpPr>
          <p:cNvPr id="141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F985A1ED-2439-4109-9738-EC0D8E616E4C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142" name="CustomShape 4"/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Natif – Aperçu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14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définition</a:t>
            </a:r>
            <a:r>
              <a:rPr lang="fr-FR" sz="1800" b="0" strike="noStrike" spc="-1" dirty="0">
                <a:latin typeface="Century Gothic" panose="020B0502020202020204" pitchFamily="34" charset="0"/>
              </a:rPr>
              <a:t> </a:t>
            </a:r>
            <a:r>
              <a:rPr lang="en-US" sz="1800" b="0" strike="noStrike" spc="-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développer une application mobile pour un OS spécifique (</a:t>
            </a:r>
            <a:r>
              <a:rPr lang="fr-FR" i="1" dirty="0">
                <a:latin typeface="Century Gothic" panose="020B0502020202020204" pitchFamily="34" charset="0"/>
              </a:rPr>
              <a:t>e.g., Android, iOS, Windows Phone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implémentation</a:t>
            </a:r>
            <a:r>
              <a:rPr lang="fr-FR" sz="1800" strike="noStrike" spc="-1" dirty="0">
                <a:latin typeface="Century Gothic" panose="020B0502020202020204" pitchFamily="34" charset="0"/>
              </a:rPr>
              <a:t> : selon le(s) OS(s) ciblé(s), on dispose souvent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pc="-1" dirty="0">
                <a:latin typeface="Century Gothic" panose="020B0502020202020204" pitchFamily="34" charset="0"/>
              </a:rPr>
              <a:t>	</a:t>
            </a:r>
            <a:r>
              <a:rPr lang="fr-FR" dirty="0">
                <a:latin typeface="Century Gothic" panose="020B0502020202020204" pitchFamily="34" charset="0"/>
              </a:rPr>
              <a:t>d'un/plusieurs langage(s) de programmation avec des </a:t>
            </a:r>
            <a:r>
              <a:rPr lang="fr-FR" b="1" dirty="0">
                <a:latin typeface="Century Gothic" panose="020B0502020202020204" pitchFamily="34" charset="0"/>
              </a:rPr>
              <a:t>kits de développement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en-US" i="1" dirty="0">
                <a:latin typeface="Century Gothic" panose="020B0502020202020204" pitchFamily="34" charset="0"/>
              </a:rPr>
              <a:t>Software Development Kits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b="1" dirty="0">
                <a:latin typeface="Century Gothic" panose="020B0502020202020204" pitchFamily="34" charset="0"/>
              </a:rPr>
              <a:t>SDKs</a:t>
            </a:r>
            <a:r>
              <a:rPr lang="fr-FR" dirty="0">
                <a:latin typeface="Century Gothic" panose="020B0502020202020204" pitchFamily="34" charset="0"/>
              </a:rPr>
              <a:t>)) dédiés spécifiques pour développer nos applications.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d'un/plusieurs </a:t>
            </a:r>
            <a:r>
              <a:rPr lang="fr-FR" b="1" dirty="0">
                <a:latin typeface="Century Gothic" panose="020B0502020202020204" pitchFamily="34" charset="0"/>
              </a:rPr>
              <a:t>environnements d'outillage</a:t>
            </a:r>
            <a:r>
              <a:rPr lang="fr-FR" dirty="0">
                <a:latin typeface="Century Gothic" panose="020B0502020202020204" pitchFamily="34" charset="0"/>
              </a:rPr>
              <a:t> adaptés pour accélérer le processus de développement et améliorer la productivité des développeurs.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endParaRPr lang="fr-FR" spc="-1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spc="-1" dirty="0">
                <a:latin typeface="Century Gothic" panose="020B0502020202020204" pitchFamily="34" charset="0"/>
              </a:rPr>
              <a:t>environnements de développement</a:t>
            </a:r>
            <a:r>
              <a:rPr lang="fr-FR" spc="-1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éditeurs de texte</a:t>
            </a:r>
            <a:r>
              <a:rPr lang="fr-FR" dirty="0">
                <a:latin typeface="Century Gothic" panose="020B0502020202020204" pitchFamily="34" charset="0"/>
              </a:rPr>
              <a:t> à usage général, intelligents, personnalisables et extensibles par le biais d'extensions/plugins (</a:t>
            </a:r>
            <a:r>
              <a:rPr lang="fr-FR" i="1" dirty="0">
                <a:latin typeface="Century Gothic" panose="020B0502020202020204" pitchFamily="34" charset="0"/>
              </a:rPr>
              <a:t>e.g., </a:t>
            </a:r>
            <a:r>
              <a:rPr lang="fr-FR" i="1" dirty="0" err="1">
                <a:latin typeface="Century Gothic" panose="020B0502020202020204" pitchFamily="34" charset="0"/>
              </a:rPr>
              <a:t>VSCode</a:t>
            </a:r>
            <a:r>
              <a:rPr lang="fr-FR" i="1" dirty="0">
                <a:latin typeface="Century Gothic" panose="020B0502020202020204" pitchFamily="34" charset="0"/>
              </a:rPr>
              <a:t>, Atom, Sublime, etc.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environnements de développement intégrés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en-US" i="1" dirty="0">
                <a:latin typeface="Century Gothic" panose="020B0502020202020204" pitchFamily="34" charset="0"/>
              </a:rPr>
              <a:t>Integrated Development Environment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b="1" dirty="0">
                <a:latin typeface="Century Gothic" panose="020B0502020202020204" pitchFamily="34" charset="0"/>
              </a:rPr>
              <a:t>IDE</a:t>
            </a:r>
            <a:r>
              <a:rPr lang="fr-FR" dirty="0">
                <a:latin typeface="Century Gothic" panose="020B0502020202020204" pitchFamily="34" charset="0"/>
              </a:rPr>
              <a:t>)) dédiés et extensibles par le biais d'extensions/plugins (</a:t>
            </a:r>
            <a:r>
              <a:rPr lang="en-US" i="1" dirty="0">
                <a:latin typeface="Century Gothic" panose="020B0502020202020204" pitchFamily="34" charset="0"/>
              </a:rPr>
              <a:t>e.g., </a:t>
            </a:r>
            <a:r>
              <a:rPr lang="en-US" i="1" dirty="0" err="1">
                <a:latin typeface="Century Gothic" panose="020B0502020202020204" pitchFamily="34" charset="0"/>
              </a:rPr>
              <a:t>Intellij</a:t>
            </a:r>
            <a:r>
              <a:rPr lang="en-US" i="1" dirty="0">
                <a:latin typeface="Century Gothic" panose="020B0502020202020204" pitchFamily="34" charset="0"/>
              </a:rPr>
              <a:t> IDEA, Android Studio, Eclipse, </a:t>
            </a:r>
            <a:r>
              <a:rPr lang="en-US" i="1" dirty="0" err="1">
                <a:latin typeface="Century Gothic" panose="020B0502020202020204" pitchFamily="34" charset="0"/>
              </a:rPr>
              <a:t>Netbeans</a:t>
            </a:r>
            <a:r>
              <a:rPr lang="en-US" i="1" dirty="0">
                <a:latin typeface="Century Gothic" panose="020B0502020202020204" pitchFamily="34" charset="0"/>
              </a:rPr>
              <a:t>, etc.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3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439071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Natif – Android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14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Pour créer des applications Android natives, on utilise des SDKs dédiés fournis par les langages de programmation </a:t>
            </a:r>
            <a:r>
              <a:rPr lang="fr-FR" b="1" dirty="0">
                <a:latin typeface="Century Gothic" panose="020B0502020202020204" pitchFamily="34" charset="0"/>
              </a:rPr>
              <a:t>Java</a:t>
            </a:r>
            <a:r>
              <a:rPr lang="fr-FR" dirty="0">
                <a:latin typeface="Century Gothic" panose="020B0502020202020204" pitchFamily="34" charset="0"/>
              </a:rPr>
              <a:t> ou </a:t>
            </a:r>
            <a:r>
              <a:rPr lang="fr-FR" b="1" dirty="0" err="1">
                <a:latin typeface="Century Gothic" panose="020B0502020202020204" pitchFamily="34" charset="0"/>
              </a:rPr>
              <a:t>Kotlin</a:t>
            </a:r>
            <a:r>
              <a:rPr lang="fr-FR" dirty="0">
                <a:latin typeface="Century Gothic" panose="020B0502020202020204" pitchFamily="34" charset="0"/>
              </a:rPr>
              <a:t>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Java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le premier langage de programmation adopté pour créer des applications Android natives.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langage orienté-objet, pouvant éventuellement simuler le paradigme fonctionnel en utilisant les expressions lambdas, les interfaces fonctionnelles, les </a:t>
            </a:r>
            <a:r>
              <a:rPr lang="fr-FR" dirty="0" err="1">
                <a:latin typeface="Century Gothic" panose="020B0502020202020204" pitchFamily="34" charset="0"/>
              </a:rPr>
              <a:t>streams</a:t>
            </a:r>
            <a:r>
              <a:rPr lang="fr-FR" dirty="0">
                <a:latin typeface="Century Gothic" panose="020B0502020202020204" pitchFamily="34" charset="0"/>
              </a:rPr>
              <a:t> et/ou les classes anonymes.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 err="1">
                <a:latin typeface="Century Gothic" panose="020B0502020202020204" pitchFamily="34" charset="0"/>
              </a:rPr>
              <a:t>Kotlin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langage de programmation introduit par Google en 2017 pour créer des applications Android natives.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langage orienté-objet et fonctionnel.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Outre les SDKs, on utilise souvent l'IDE multiplateforme (Windows, Mac OS, et Linux) </a:t>
            </a:r>
            <a:r>
              <a:rPr lang="fr-FR" b="1" dirty="0">
                <a:latin typeface="Century Gothic" panose="020B0502020202020204" pitchFamily="34" charset="0"/>
              </a:rPr>
              <a:t>Android Studio</a:t>
            </a:r>
            <a:r>
              <a:rPr lang="fr-FR" dirty="0">
                <a:latin typeface="Century Gothic" panose="020B0502020202020204" pitchFamily="34" charset="0"/>
              </a:rPr>
              <a:t> basé sur </a:t>
            </a:r>
            <a:r>
              <a:rPr lang="fr-FR" dirty="0" err="1">
                <a:latin typeface="Century Gothic" panose="020B0502020202020204" pitchFamily="34" charset="0"/>
              </a:rPr>
              <a:t>IntelliJ</a:t>
            </a:r>
            <a:r>
              <a:rPr lang="fr-FR" dirty="0">
                <a:latin typeface="Century Gothic" panose="020B0502020202020204" pitchFamily="34" charset="0"/>
              </a:rPr>
              <a:t> IDEA.</a:t>
            </a:r>
            <a:endParaRPr lang="fr-FR" strike="noStrike" spc="-1" dirty="0">
              <a:latin typeface="Century Gothic" panose="020B0502020202020204" pitchFamily="34" charset="0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4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DBC7CB68-600C-5F4C-476C-735BE3C7A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68" y="-95810"/>
            <a:ext cx="2244132" cy="168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7874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Natif – iOS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14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Pour créer des applications iOS natives, on utilise des SDKs dédiés fournis par les langages de programmation </a:t>
            </a:r>
            <a:r>
              <a:rPr lang="fr-FR" b="1" dirty="0">
                <a:latin typeface="Century Gothic" panose="020B0502020202020204" pitchFamily="34" charset="0"/>
              </a:rPr>
              <a:t>Objective-C</a:t>
            </a:r>
            <a:r>
              <a:rPr lang="fr-FR" dirty="0">
                <a:latin typeface="Century Gothic" panose="020B0502020202020204" pitchFamily="34" charset="0"/>
              </a:rPr>
              <a:t> ou </a:t>
            </a:r>
            <a:r>
              <a:rPr lang="fr-FR" b="1" dirty="0">
                <a:latin typeface="Century Gothic" panose="020B0502020202020204" pitchFamily="34" charset="0"/>
              </a:rPr>
              <a:t>Swift</a:t>
            </a:r>
            <a:r>
              <a:rPr lang="fr-FR" dirty="0">
                <a:latin typeface="Century Gothic" panose="020B0502020202020204" pitchFamily="34" charset="0"/>
              </a:rPr>
              <a:t>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Objective-C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le premier langage de programmation adopté pour créer des applications iOS natives.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il s'agit d'un sur-ensemble (</a:t>
            </a:r>
            <a:r>
              <a:rPr lang="fr-FR" i="1" dirty="0" err="1">
                <a:latin typeface="Century Gothic" panose="020B0502020202020204" pitchFamily="34" charset="0"/>
              </a:rPr>
              <a:t>superset</a:t>
            </a:r>
            <a:r>
              <a:rPr lang="fr-FR" dirty="0">
                <a:latin typeface="Century Gothic" panose="020B0502020202020204" pitchFamily="34" charset="0"/>
              </a:rPr>
              <a:t>) du langage de programmation C doté de constructions permettant la programmation orientée-objet.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Swift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langage de programmation introduit par Apple en 2014 pour son écosystème, incluant la création d'applications iOS natives.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langage orienté-objet de plus haut-niveau, pouvant éventuellement simuler le paradigme fonctionnel en utilisant les </a:t>
            </a:r>
            <a:r>
              <a:rPr lang="fr-FR" dirty="0" err="1">
                <a:latin typeface="Century Gothic" panose="020B0502020202020204" pitchFamily="34" charset="0"/>
              </a:rPr>
              <a:t>closures</a:t>
            </a:r>
            <a:r>
              <a:rPr lang="fr-FR" dirty="0">
                <a:latin typeface="Century Gothic" panose="020B0502020202020204" pitchFamily="34" charset="0"/>
              </a:rPr>
              <a:t>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Outre les SDKs, on utilise souvent l'IDE </a:t>
            </a:r>
            <a:r>
              <a:rPr lang="fr-FR" b="1" dirty="0" err="1">
                <a:latin typeface="Century Gothic" panose="020B0502020202020204" pitchFamily="34" charset="0"/>
              </a:rPr>
              <a:t>Xcode</a:t>
            </a:r>
            <a:r>
              <a:rPr lang="fr-FR" dirty="0">
                <a:latin typeface="Century Gothic" panose="020B0502020202020204" pitchFamily="34" charset="0"/>
              </a:rPr>
              <a:t> (entre autres) ne fonctionnant qu’avec Mac OS.</a:t>
            </a:r>
            <a:endParaRPr lang="fr-FR" strike="noStrike" spc="-1" dirty="0">
              <a:latin typeface="Century Gothic" panose="020B0502020202020204" pitchFamily="34" charset="0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5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5CF58DEA-CF14-C606-976C-1EC9FA31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651" y="7762"/>
            <a:ext cx="1567418" cy="156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539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Natif – Quelques exemples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14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743040" lvl="1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trike="noStrike" spc="-1" dirty="0">
              <a:latin typeface="Century Gothic" panose="020B0502020202020204" pitchFamily="34" charset="0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6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90AA70F-C6E8-D1A2-6EBD-B544C7662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5" y="2036988"/>
            <a:ext cx="3599696" cy="1080518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46CB791-E6EC-05EA-707D-01ACB7872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5" y="3780963"/>
            <a:ext cx="3599697" cy="239781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7537653-FAE8-6BE7-BC31-8EB100818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384" y="2036988"/>
            <a:ext cx="1653464" cy="1693147"/>
          </a:xfrm>
          <a:prstGeom prst="rect">
            <a:avLst/>
          </a:prstGeom>
        </p:spPr>
      </p:pic>
      <p:pic>
        <p:nvPicPr>
          <p:cNvPr id="13" name="Picture 12" descr="Logo, icon&#10;&#10;Description automatically generated">
            <a:extLst>
              <a:ext uri="{FF2B5EF4-FFF2-40B4-BE49-F238E27FC236}">
                <a16:creationId xmlns:a16="http://schemas.microsoft.com/office/drawing/2014/main" id="{50F7F890-D9C4-AD0D-4F90-A1C76BBF0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421" y="2036988"/>
            <a:ext cx="2166600" cy="1950416"/>
          </a:xfrm>
          <a:prstGeom prst="rect">
            <a:avLst/>
          </a:prstGeom>
        </p:spPr>
      </p:pic>
      <p:pic>
        <p:nvPicPr>
          <p:cNvPr id="15" name="Picture 14" descr="Logo, icon&#10;&#10;Description automatically generated">
            <a:extLst>
              <a:ext uri="{FF2B5EF4-FFF2-40B4-BE49-F238E27FC236}">
                <a16:creationId xmlns:a16="http://schemas.microsoft.com/office/drawing/2014/main" id="{9AA72047-35BB-BA14-BA43-4D382AE387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831" y="4576635"/>
            <a:ext cx="1410570" cy="1410570"/>
          </a:xfrm>
          <a:prstGeom prst="rect">
            <a:avLst/>
          </a:prstGeom>
        </p:spPr>
      </p:pic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A627239C-F808-1545-9D1B-CE239B9398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932" y="4585376"/>
            <a:ext cx="2747577" cy="142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8962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Natif – Avantages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5506497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Meilleure performance</a:t>
            </a:r>
            <a:r>
              <a:rPr lang="fr-FR" sz="1600" dirty="0">
                <a:latin typeface="Century Gothic" panose="020B0502020202020204" pitchFamily="34" charset="0"/>
              </a:rPr>
              <a:t> : les applications natives sont développées, optimisées et compilées à l'aide d'APIs fournies pour une plateforme spécifique, ce qui les rends très rapides, plus efficaces et réactives.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Meilleure sécurité</a:t>
            </a:r>
            <a:r>
              <a:rPr lang="fr-FR" sz="1600" dirty="0">
                <a:latin typeface="Century Gothic" panose="020B0502020202020204" pitchFamily="34" charset="0"/>
              </a:rPr>
              <a:t> : les applications natives peuvent améliorer la sécurité des données des utilisateurs, ayant accès aux </a:t>
            </a:r>
            <a:r>
              <a:rPr lang="fr-FR" sz="1600" i="1" dirty="0" err="1">
                <a:latin typeface="Century Gothic" panose="020B0502020202020204" pitchFamily="34" charset="0"/>
              </a:rPr>
              <a:t>features</a:t>
            </a:r>
            <a:r>
              <a:rPr lang="fr-FR" sz="1600" dirty="0">
                <a:latin typeface="Century Gothic" panose="020B0502020202020204" pitchFamily="34" charset="0"/>
              </a:rPr>
              <a:t> de sécurité intégrées spécifiques à la plateforme.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Meilleure évolutivité</a:t>
            </a:r>
            <a:r>
              <a:rPr lang="fr-FR" sz="1600" dirty="0">
                <a:latin typeface="Century Gothic" panose="020B0502020202020204" pitchFamily="34" charset="0"/>
              </a:rPr>
              <a:t> : les applications natives sont souvent plus faciles à mettre à l'échelle grâce à la flexibilité fournie par les APIs de la plateforme ciblée.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Meilleures mises à jour</a:t>
            </a:r>
            <a:r>
              <a:rPr lang="fr-FR" sz="1600" dirty="0">
                <a:latin typeface="Century Gothic" panose="020B0502020202020204" pitchFamily="34" charset="0"/>
              </a:rPr>
              <a:t> : les développeurs d'applications natives ont accès aux mises à jour des SDKs dès leur sortie, celles-ci étant toujours accompagnées d'améliorations et de nouvelles fonctionnalités.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7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447F9F8-0F96-79B6-D27F-31C6BCDAE998}"/>
              </a:ext>
            </a:extLst>
          </p:cNvPr>
          <p:cNvSpPr/>
          <p:nvPr/>
        </p:nvSpPr>
        <p:spPr>
          <a:xfrm>
            <a:off x="6064337" y="1576080"/>
            <a:ext cx="5506497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Meilleure expérience utilisateur</a:t>
            </a:r>
            <a:r>
              <a:rPr lang="fr-FR" sz="1600" dirty="0">
                <a:latin typeface="Century Gothic" panose="020B0502020202020204" pitchFamily="34" charset="0"/>
              </a:rPr>
              <a:t> : les applications natives offrent une expérience utilisateur plus fluide et plus riche car elles suivent les guides de conception pour la plateforme ciblée et héritent des </a:t>
            </a:r>
            <a:r>
              <a:rPr lang="fr-FR" sz="1600" i="1" dirty="0" err="1">
                <a:latin typeface="Century Gothic" panose="020B0502020202020204" pitchFamily="34" charset="0"/>
              </a:rPr>
              <a:t>features</a:t>
            </a:r>
            <a:r>
              <a:rPr lang="fr-FR" sz="1600" dirty="0">
                <a:latin typeface="Century Gothic" panose="020B0502020202020204" pitchFamily="34" charset="0"/>
              </a:rPr>
              <a:t> natives offertes par celle-ci (</a:t>
            </a:r>
            <a:r>
              <a:rPr lang="fr-FR" sz="1600" i="1" dirty="0">
                <a:latin typeface="Century Gothic" panose="020B0502020202020204" pitchFamily="34" charset="0"/>
              </a:rPr>
              <a:t>e.g., composants UI natifs</a:t>
            </a:r>
            <a:r>
              <a:rPr lang="fr-FR" sz="1600" dirty="0">
                <a:latin typeface="Century Gothic" panose="020B0502020202020204" pitchFamily="34" charset="0"/>
              </a:rPr>
              <a:t>) →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l'interface utilisateur et les interactions sont plus cohérentes et plus souples, ce qui rend le flux de l'application plus naturel.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l'expérience utilisateur est plus riche et plus intégrée pouvant tirer parti de l'écosystème fourni par la plateforme dédiée (</a:t>
            </a:r>
            <a:r>
              <a:rPr lang="fr-FR" sz="1600" i="1" dirty="0">
                <a:latin typeface="Century Gothic" panose="020B0502020202020204" pitchFamily="34" charset="0"/>
              </a:rPr>
              <a:t>e.g., push notifications</a:t>
            </a:r>
            <a:r>
              <a:rPr lang="fr-FR" sz="1600" dirty="0">
                <a:latin typeface="Century Gothic" panose="020B0502020202020204" pitchFamily="34" charset="0"/>
              </a:rPr>
              <a:t>).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Meilleure visibilité</a:t>
            </a:r>
            <a:r>
              <a:rPr lang="fr-FR" sz="1600" dirty="0">
                <a:latin typeface="Century Gothic" panose="020B0502020202020204" pitchFamily="34" charset="0"/>
              </a:rPr>
              <a:t> : les applications natives sont généralement mieux classées dans les stores d'applications (</a:t>
            </a:r>
            <a:r>
              <a:rPr lang="fr-FR" sz="1600" i="1" dirty="0">
                <a:latin typeface="Century Gothic" panose="020B0502020202020204" pitchFamily="34" charset="0"/>
              </a:rPr>
              <a:t>e.g., Google Play, App Store</a:t>
            </a:r>
            <a:r>
              <a:rPr lang="fr-FR" sz="1600" dirty="0">
                <a:latin typeface="Century Gothic" panose="020B0502020202020204" pitchFamily="34" charset="0"/>
              </a:rPr>
              <a:t>) en raison de leurs performance et souplesse.</a:t>
            </a:r>
          </a:p>
        </p:txBody>
      </p:sp>
    </p:spTree>
    <p:extLst>
      <p:ext uri="{BB962C8B-B14F-4D97-AF65-F5344CB8AC3E}">
        <p14:creationId xmlns:p14="http://schemas.microsoft.com/office/powerpoint/2010/main" val="241370595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Natif – Inconvénients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6096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coût de développement/maintenance/évolution</a:t>
            </a:r>
            <a:r>
              <a:rPr lang="fr-FR" dirty="0">
                <a:latin typeface="Century Gothic" panose="020B0502020202020204" pitchFamily="34" charset="0"/>
              </a:rPr>
              <a:t> : les applications natives nécessitent souvent des équipes séparées et dédiés à chaque plateforme (e.g., des développeurs qui maîtrisant Java/</a:t>
            </a:r>
            <a:r>
              <a:rPr lang="fr-FR" dirty="0" err="1">
                <a:latin typeface="Century Gothic" panose="020B0502020202020204" pitchFamily="34" charset="0"/>
              </a:rPr>
              <a:t>Kotlin</a:t>
            </a:r>
            <a:r>
              <a:rPr lang="fr-FR" dirty="0">
                <a:latin typeface="Century Gothic" panose="020B0502020202020204" pitchFamily="34" charset="0"/>
              </a:rPr>
              <a:t> et Swift/Objective-C pour les OS Android et iOS respectivement) ce qui engendre un temps considérable pour leur développement, maintenance, et évolution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8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6C1EB292-7B0A-3A58-2A66-F4C847EF35B5}"/>
              </a:ext>
            </a:extLst>
          </p:cNvPr>
          <p:cNvSpPr/>
          <p:nvPr/>
        </p:nvSpPr>
        <p:spPr>
          <a:xfrm>
            <a:off x="6096000" y="1564395"/>
            <a:ext cx="6096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pas de réutilisabilité</a:t>
            </a:r>
            <a:r>
              <a:rPr lang="fr-FR" dirty="0">
                <a:latin typeface="Century Gothic" panose="020B0502020202020204" pitchFamily="34" charset="0"/>
              </a:rPr>
              <a:t> : une même application possède les mêmes règles métiers quelle que soit sa stratégie d'implémentation. Dans le cadre d'une application native, ceci engendre des redondances à travers les différentes implémentations associées aux plateformes ciblées, vu que les bases de code source concernées sont développées séparément en utilisant les SDKs et APIs fournies par chaque plateforme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8642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Aperçu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66032"/>
            <a:ext cx="121914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définition</a:t>
            </a:r>
            <a:r>
              <a:rPr lang="fr-FR" sz="1800" b="0" strike="noStrike" spc="-1" dirty="0">
                <a:latin typeface="Century Gothic" panose="020B0502020202020204" pitchFamily="34" charset="0"/>
              </a:rPr>
              <a:t> </a:t>
            </a:r>
            <a:r>
              <a:rPr lang="en-US" sz="1800" b="0" strike="noStrike" spc="-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développer une seule application mobile pour plusieurs plateformes.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implémentation</a:t>
            </a:r>
            <a:r>
              <a:rPr lang="fr-FR" sz="1800" strike="noStrike" spc="-1" dirty="0">
                <a:latin typeface="Century Gothic" panose="020B0502020202020204" pitchFamily="34" charset="0"/>
              </a:rPr>
              <a:t> : </a:t>
            </a:r>
            <a:r>
              <a:rPr lang="fr-FR" spc="-1" dirty="0">
                <a:latin typeface="Century Gothic" panose="020B0502020202020204" pitchFamily="34" charset="0"/>
              </a:rPr>
              <a:t>de</a:t>
            </a:r>
            <a:r>
              <a:rPr lang="fr-FR" sz="1800" strike="noStrike" spc="-1" dirty="0">
                <a:latin typeface="Century Gothic" panose="020B0502020202020204" pitchFamily="34" charset="0"/>
              </a:rPr>
              <a:t>s </a:t>
            </a:r>
            <a:r>
              <a:rPr lang="fr-FR" sz="1800" strike="noStrike" spc="-1" dirty="0" err="1">
                <a:latin typeface="Century Gothic" panose="020B0502020202020204" pitchFamily="34" charset="0"/>
              </a:rPr>
              <a:t>frameworks</a:t>
            </a:r>
            <a:r>
              <a:rPr lang="fr-FR" spc="-1" dirty="0">
                <a:latin typeface="Century Gothic" panose="020B0502020202020204" pitchFamily="34" charset="0"/>
              </a:rPr>
              <a:t> </a:t>
            </a:r>
            <a:r>
              <a:rPr lang="fr-FR" sz="1800" strike="noStrike" spc="-1" dirty="0">
                <a:latin typeface="Century Gothic" panose="020B0502020202020204" pitchFamily="34" charset="0"/>
              </a:rPr>
              <a:t>fournissant </a:t>
            </a:r>
            <a:r>
              <a:rPr lang="fr-FR" dirty="0">
                <a:latin typeface="Century Gothic" panose="020B0502020202020204" pitchFamily="34" charset="0"/>
              </a:rPr>
              <a:t>une interface d’abstraction unique pour accéder aux </a:t>
            </a:r>
            <a:r>
              <a:rPr lang="fr-FR" b="1" dirty="0">
                <a:latin typeface="Century Gothic" panose="020B0502020202020204" pitchFamily="34" charset="0"/>
              </a:rPr>
              <a:t>kits de développement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en-US" i="1" dirty="0">
                <a:latin typeface="Century Gothic" panose="020B0502020202020204" pitchFamily="34" charset="0"/>
              </a:rPr>
              <a:t>Software Development Kits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b="1" dirty="0">
                <a:latin typeface="Century Gothic" panose="020B0502020202020204" pitchFamily="34" charset="0"/>
              </a:rPr>
              <a:t>SDKs</a:t>
            </a:r>
            <a:r>
              <a:rPr lang="fr-FR" dirty="0">
                <a:latin typeface="Century Gothic" panose="020B0502020202020204" pitchFamily="34" charset="0"/>
              </a:rPr>
              <a:t>)) spécifiques aux plateformes ciblées.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pc="-1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spc="-1" dirty="0">
                <a:latin typeface="Century Gothic" panose="020B0502020202020204" pitchFamily="34" charset="0"/>
              </a:rPr>
              <a:t>environnements de développement</a:t>
            </a:r>
            <a:r>
              <a:rPr lang="fr-FR" spc="-1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éditeurs de texte</a:t>
            </a:r>
            <a:r>
              <a:rPr lang="fr-FR" dirty="0">
                <a:latin typeface="Century Gothic" panose="020B0502020202020204" pitchFamily="34" charset="0"/>
              </a:rPr>
              <a:t> à usage général, intelligents, personnalisables et extensibles par le biais d'extensions/plugins (</a:t>
            </a:r>
            <a:r>
              <a:rPr lang="fr-FR" i="1" dirty="0">
                <a:latin typeface="Century Gothic" panose="020B0502020202020204" pitchFamily="34" charset="0"/>
              </a:rPr>
              <a:t>e.g., </a:t>
            </a:r>
            <a:r>
              <a:rPr lang="fr-FR" i="1" dirty="0" err="1">
                <a:latin typeface="Century Gothic" panose="020B0502020202020204" pitchFamily="34" charset="0"/>
              </a:rPr>
              <a:t>VSCode</a:t>
            </a:r>
            <a:r>
              <a:rPr lang="fr-FR" i="1" dirty="0">
                <a:latin typeface="Century Gothic" panose="020B0502020202020204" pitchFamily="34" charset="0"/>
              </a:rPr>
              <a:t>, Atom, Sublime, etc.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environnements de développement intégrés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en-US" i="1" dirty="0">
                <a:latin typeface="Century Gothic" panose="020B0502020202020204" pitchFamily="34" charset="0"/>
              </a:rPr>
              <a:t>Integrated Development Environment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b="1" dirty="0">
                <a:latin typeface="Century Gothic" panose="020B0502020202020204" pitchFamily="34" charset="0"/>
              </a:rPr>
              <a:t>IDE</a:t>
            </a:r>
            <a:r>
              <a:rPr lang="fr-FR" dirty="0">
                <a:latin typeface="Century Gothic" panose="020B0502020202020204" pitchFamily="34" charset="0"/>
              </a:rPr>
              <a:t>)) dédiés et extensibles par le biais d'extensions/plugins (</a:t>
            </a:r>
            <a:r>
              <a:rPr lang="en-US" i="1" dirty="0">
                <a:latin typeface="Century Gothic" panose="020B0502020202020204" pitchFamily="34" charset="0"/>
              </a:rPr>
              <a:t>e.g., </a:t>
            </a:r>
            <a:r>
              <a:rPr lang="en-US" i="1" dirty="0" err="1">
                <a:latin typeface="Century Gothic" panose="020B0502020202020204" pitchFamily="34" charset="0"/>
              </a:rPr>
              <a:t>Intellij</a:t>
            </a:r>
            <a:r>
              <a:rPr lang="en-US" i="1" dirty="0">
                <a:latin typeface="Century Gothic" panose="020B0502020202020204" pitchFamily="34" charset="0"/>
              </a:rPr>
              <a:t> IDEA, Android Studio, WebStorm, Visual Studio, etc.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9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43468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Evolution de l’usage des </a:t>
            </a:r>
            <a:r>
              <a:rPr lang="fr-FR" sz="2800" b="1" strike="noStrike" spc="-1" dirty="0" err="1">
                <a:solidFill>
                  <a:srgbClr val="FFFFFF"/>
                </a:solidFill>
                <a:latin typeface="Century Gothic"/>
                <a:ea typeface="ITC Kabel Book"/>
              </a:rPr>
              <a:t>frameworks</a:t>
            </a: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 mobiles multiplateformes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10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F2DB30E9-4D1F-98F9-3A14-E1730A29F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720" y="2106334"/>
            <a:ext cx="6698560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26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Approche hybride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11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6" name="Picture 5" descr="Icon&#10;&#10;Description automatically generated with medium confidence">
            <a:extLst>
              <a:ext uri="{FF2B5EF4-FFF2-40B4-BE49-F238E27FC236}">
                <a16:creationId xmlns:a16="http://schemas.microsoft.com/office/drawing/2014/main" id="{D49934E9-EBFE-B7CF-E2AC-8E23EDB76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162" y="1761321"/>
            <a:ext cx="1572567" cy="1572567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C0C0A7F1-D39D-97C5-8E40-6655F821A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71" y="1573544"/>
            <a:ext cx="1572567" cy="157256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095A5D7-52BF-E089-A142-BCC267B8E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62" y="2923491"/>
            <a:ext cx="79152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85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Approche de </a:t>
            </a:r>
            <a:r>
              <a:rPr lang="fr-FR" sz="2800" b="1" strike="noStrike" spc="-1" dirty="0" err="1">
                <a:solidFill>
                  <a:srgbClr val="FFFFFF"/>
                </a:solidFill>
                <a:latin typeface="Century Gothic"/>
                <a:ea typeface="ITC Kabel Book"/>
              </a:rPr>
              <a:t>React</a:t>
            </a: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 Native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12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9" name="Picture 8" descr="Logo&#10;&#10;Description automatically generated with medium confidence">
            <a:extLst>
              <a:ext uri="{FF2B5EF4-FFF2-40B4-BE49-F238E27FC236}">
                <a16:creationId xmlns:a16="http://schemas.microsoft.com/office/drawing/2014/main" id="{19025A50-2B89-9505-51A1-A57089468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523" y="1609344"/>
            <a:ext cx="3046953" cy="1050673"/>
          </a:xfrm>
          <a:prstGeom prst="rect">
            <a:avLst/>
          </a:prstGeom>
        </p:spPr>
      </p:pic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6C6585AD-041E-284B-06C3-3CB6CACAA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61" y="2888061"/>
            <a:ext cx="79152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88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Approche de Flutter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13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E1A7639A-E74F-3154-8CB8-4F439B430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86" y="1667812"/>
            <a:ext cx="2924227" cy="834617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3F98FB3E-A939-6C10-9F30-A93ABCBF4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61" y="2862334"/>
            <a:ext cx="79152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02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Quelques exemples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14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F3233DE-3F0E-05B1-B645-DC0DE1D48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44" y="2161536"/>
            <a:ext cx="3006605" cy="1772394"/>
          </a:xfrm>
          <a:prstGeom prst="rect">
            <a:avLst/>
          </a:prstGeom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84863ECA-B0A8-D83B-0583-AA2A74299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62" y="4049102"/>
            <a:ext cx="2662968" cy="2662968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40F89A44-AE9C-0619-B1A8-E5F40D190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883" y="1958434"/>
            <a:ext cx="2387461" cy="2235758"/>
          </a:xfrm>
          <a:prstGeom prst="rect">
            <a:avLst/>
          </a:prstGeom>
        </p:spPr>
      </p:pic>
      <p:pic>
        <p:nvPicPr>
          <p:cNvPr id="18" name="Picture 17" descr="Logo, icon&#10;&#10;Description automatically generated">
            <a:extLst>
              <a:ext uri="{FF2B5EF4-FFF2-40B4-BE49-F238E27FC236}">
                <a16:creationId xmlns:a16="http://schemas.microsoft.com/office/drawing/2014/main" id="{CD56C961-08BD-801F-38B6-6BCD026605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965" y="2276398"/>
            <a:ext cx="1528256" cy="1521242"/>
          </a:xfrm>
          <a:prstGeom prst="rect">
            <a:avLst/>
          </a:prstGeom>
        </p:spPr>
      </p:pic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E69128F8-E11B-D510-EAB9-2FE99116F1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960" y="4590490"/>
            <a:ext cx="1513309" cy="1513309"/>
          </a:xfrm>
          <a:prstGeom prst="rect">
            <a:avLst/>
          </a:prstGeom>
        </p:spPr>
      </p:pic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514CE4BA-A7E9-6F40-FB9F-1B4CA7A731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923" y="4420833"/>
            <a:ext cx="3828422" cy="21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24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Avantages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2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Faibles coûts</a:t>
            </a:r>
            <a:r>
              <a:rPr lang="fr-FR" sz="1600" dirty="0">
                <a:latin typeface="Century Gothic" panose="020B0502020202020204" pitchFamily="34" charset="0"/>
              </a:rPr>
              <a:t>: le développement mobile multiplateforme ne nécessite qu'une seule équipe de développeurs qui doivent être bien informés dans le cadre choisi. 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Réutilisabilité du code</a:t>
            </a:r>
            <a:r>
              <a:rPr lang="fr-FR" sz="1600" dirty="0">
                <a:latin typeface="Century Gothic" panose="020B0502020202020204" pitchFamily="34" charset="0"/>
              </a:rPr>
              <a:t> : les </a:t>
            </a:r>
            <a:r>
              <a:rPr lang="fr-FR" sz="1600" dirty="0" err="1">
                <a:latin typeface="Century Gothic" panose="020B0502020202020204" pitchFamily="34" charset="0"/>
              </a:rPr>
              <a:t>frameworks</a:t>
            </a:r>
            <a:r>
              <a:rPr lang="fr-FR" sz="1600" dirty="0">
                <a:latin typeface="Century Gothic" panose="020B0502020202020204" pitchFamily="34" charset="0"/>
              </a:rPr>
              <a:t> mobiles multiplateformes permettent d'utiliser une seule base de code, garantissant ainsi la cohérence de la logique métier utilisée.</a:t>
            </a:r>
          </a:p>
          <a:p>
            <a:pPr marL="720">
              <a:spcBef>
                <a:spcPts val="649"/>
              </a:spcBef>
              <a:buClr>
                <a:srgbClr val="000000"/>
              </a:buClr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Développement rapide </a:t>
            </a:r>
            <a:r>
              <a:rPr lang="fr-FR" sz="1600" dirty="0">
                <a:latin typeface="Century Gothic" panose="020B0502020202020204" pitchFamily="34" charset="0"/>
              </a:rPr>
              <a:t>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en réutilisant le code et en améliorant la productivité, l'application arrivera plus rapidement sur le marché. 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Les </a:t>
            </a:r>
            <a:r>
              <a:rPr lang="fr-FR" sz="1600" dirty="0" err="1">
                <a:latin typeface="Century Gothic" panose="020B0502020202020204" pitchFamily="34" charset="0"/>
              </a:rPr>
              <a:t>frameworks</a:t>
            </a:r>
            <a:r>
              <a:rPr lang="fr-FR" sz="1600" dirty="0">
                <a:latin typeface="Century Gothic" panose="020B0502020202020204" pitchFamily="34" charset="0"/>
              </a:rPr>
              <a:t> mobiles multiplateformes ont également optimisé le test des applications pendant le développement.</a:t>
            </a:r>
          </a:p>
          <a:p>
            <a:pPr marL="720">
              <a:spcBef>
                <a:spcPts val="649"/>
              </a:spcBef>
              <a:buClr>
                <a:srgbClr val="000000"/>
              </a:buClr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Maintenance simplifiée</a:t>
            </a:r>
            <a:r>
              <a:rPr lang="fr-FR" sz="1600" dirty="0">
                <a:latin typeface="Century Gothic" panose="020B0502020202020204" pitchFamily="34" charset="0"/>
              </a:rPr>
              <a:t> : la mise à jour d'une application multiplateforme est plus facile, ayant affaire à une seule base de code à partir de laquelle les différentes versions sont générées, ce qui garantit la cohérence et réduit la possibilité des erreurs.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15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235004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Développement Mobile Multiplateforme – Inconvénients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2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Empreinte numérique plus importante </a:t>
            </a:r>
            <a:r>
              <a:rPr lang="fr-FR" sz="1600" dirty="0">
                <a:latin typeface="Century Gothic" panose="020B0502020202020204" pitchFamily="34" charset="0"/>
              </a:rPr>
              <a:t>: les applications multiplateformes sont généralement plus volumineuses et donc nécessitent plus d'optimisation, en tenant compte des capacités des plateformes mobiles existantes.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Intégrations difficiles</a:t>
            </a:r>
            <a:r>
              <a:rPr lang="fr-FR" sz="1600" dirty="0">
                <a:latin typeface="Century Gothic" panose="020B0502020202020204" pitchFamily="34" charset="0"/>
              </a:rPr>
              <a:t> : les </a:t>
            </a:r>
            <a:r>
              <a:rPr lang="fr-FR" sz="1600" dirty="0" err="1">
                <a:latin typeface="Century Gothic" panose="020B0502020202020204" pitchFamily="34" charset="0"/>
              </a:rPr>
              <a:t>frameworks</a:t>
            </a:r>
            <a:r>
              <a:rPr lang="fr-FR" sz="1600" dirty="0">
                <a:latin typeface="Century Gothic" panose="020B0502020202020204" pitchFamily="34" charset="0"/>
              </a:rPr>
              <a:t> mobiles multiplateformes n'intègrent pas toutes les fonctionnalités spécifiques à la plateforme. Certaines intégrations spécifiques au matériel, telles que l'utilisation de GPU, peuvent nécessiter des compétences en développement d'applications natives.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Coûts de performance </a:t>
            </a:r>
            <a:r>
              <a:rPr lang="fr-FR" sz="1600" dirty="0">
                <a:latin typeface="Century Gothic" panose="020B0502020202020204" pitchFamily="34" charset="0"/>
              </a:rPr>
              <a:t>: les </a:t>
            </a:r>
            <a:r>
              <a:rPr lang="fr-FR" sz="1600" dirty="0" err="1">
                <a:latin typeface="Century Gothic" panose="020B0502020202020204" pitchFamily="34" charset="0"/>
              </a:rPr>
              <a:t>frameworks</a:t>
            </a:r>
            <a:r>
              <a:rPr lang="fr-FR" sz="1600" dirty="0">
                <a:latin typeface="Century Gothic" panose="020B0502020202020204" pitchFamily="34" charset="0"/>
              </a:rPr>
              <a:t> mobiles multiplateformes regroupent généralement un environnement d'exécution personnalisé pour exécuter l'application, communiquant avec les services spécifiques à la plateforme. Ceci ajoute une couche supplémentaire de calcul, entraînant une baisse des performances.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Mises à jour retardées</a:t>
            </a:r>
            <a:r>
              <a:rPr lang="fr-FR" sz="1600" dirty="0">
                <a:latin typeface="Century Gothic" panose="020B0502020202020204" pitchFamily="34" charset="0"/>
              </a:rPr>
              <a:t>: les nouvelles versions des SDKs incluent généralement de nouvelles fonctionnalités et mises à jour, qui ne seront pas immédiatement répercutées au niveau des </a:t>
            </a:r>
            <a:r>
              <a:rPr lang="fr-FR" sz="1600" dirty="0" err="1">
                <a:latin typeface="Century Gothic" panose="020B0502020202020204" pitchFamily="34" charset="0"/>
              </a:rPr>
              <a:t>frameworks</a:t>
            </a:r>
            <a:r>
              <a:rPr lang="fr-FR" sz="1600" dirty="0">
                <a:latin typeface="Century Gothic" panose="020B0502020202020204" pitchFamily="34" charset="0"/>
              </a:rPr>
              <a:t> mobiles  multiplateformes les exploitant.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16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838793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Comment choisir entre développement mobile natif et développement mobile multiplateforme ? (1)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2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Complexité de l’application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Pour les applications simples n’ayant pas besoin de ressources considérables ou d’avoir accès à des APIs de bas niveau, le développement mobile multiplateforme serait le meilleur choix.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Pour les applications plus complexes, ayant des besoins de calcul exigeants ou d’avois accès à des APIs de bas niveau, le développement mobile natif serait le meilleur choix.</a:t>
            </a:r>
          </a:p>
          <a:p>
            <a:pPr marL="720">
              <a:spcBef>
                <a:spcPts val="649"/>
              </a:spcBef>
              <a:buClr>
                <a:srgbClr val="000000"/>
              </a:buClr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Délai de mise sur le marché </a:t>
            </a:r>
            <a:r>
              <a:rPr lang="fr-FR" sz="1600" dirty="0">
                <a:latin typeface="Century Gothic" panose="020B0502020202020204" pitchFamily="34" charset="0"/>
              </a:rPr>
              <a:t>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On souhaite publier le produit tôt sur le marché pour récolter des commentaires de qualité des utilisateurs et continuer à faire évoluer le produit.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Le développement d'applications multiplateformes serait le mieux adapté à ce scénario car il est rapide à créer et à itérer. 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Par contre, le développement mobile natif prendrait du temps et serait plus difficile à maintenir, ce qui, en fin de compte, ralentirait la mise sur le marché.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17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682034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Comment choisir entre développement mobile natif et développement mobile multiplateforme ? (2)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18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5F3BED6E-0A0D-7A5F-14B4-F3CB53616EF4}"/>
              </a:ext>
            </a:extLst>
          </p:cNvPr>
          <p:cNvSpPr/>
          <p:nvPr/>
        </p:nvSpPr>
        <p:spPr>
          <a:xfrm>
            <a:off x="0" y="1574280"/>
            <a:ext cx="12192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6470" indent="-285750">
              <a:spcBef>
                <a:spcPts val="64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Sécurité, stabilité, évolutivité</a:t>
            </a:r>
            <a:r>
              <a:rPr lang="fr-FR" sz="1600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Les risques liés à la sécurité, la stabilité et l’évolutivité peuvent être très élevés pour certains types d'applications mobiles (</a:t>
            </a:r>
            <a:r>
              <a:rPr lang="fr-FR" sz="1600" i="1" dirty="0">
                <a:latin typeface="Century Gothic" panose="020B0502020202020204" pitchFamily="34" charset="0"/>
              </a:rPr>
              <a:t>e.g., applications bancaires, applications financières, etc.</a:t>
            </a:r>
            <a:r>
              <a:rPr lang="fr-FR" sz="1600" dirty="0">
                <a:latin typeface="Century Gothic" panose="020B0502020202020204" pitchFamily="34" charset="0"/>
              </a:rPr>
              <a:t>). 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Dans ces scénarios, le développement mobile natif serait une meilleure voie, tirant partie des nombreuses fonctionnalités de sécurité, de stabilité et d’évolutivité fournies par les bibliothèques intégrées à la plateforme ciblée, notamment le cryptage des fichiers et la détection intelligente des fraudes. </a:t>
            </a:r>
          </a:p>
          <a:p>
            <a:pPr marL="286470" indent="-285750">
              <a:spcBef>
                <a:spcPts val="64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fr-FR" sz="1600" dirty="0">
              <a:latin typeface="Century Gothic" panose="020B0502020202020204" pitchFamily="34" charset="0"/>
            </a:endParaRP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Performance </a:t>
            </a:r>
            <a:r>
              <a:rPr lang="fr-FR" sz="1600" dirty="0">
                <a:latin typeface="Century Gothic" panose="020B0502020202020204" pitchFamily="34" charset="0"/>
              </a:rPr>
              <a:t>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Certains types d’applications mobiles peuvent avoir des exigences de calcul élevées, nécessitant ainsi des performances accélérées (</a:t>
            </a:r>
            <a:r>
              <a:rPr lang="fr-FR" sz="1600" i="1" dirty="0">
                <a:latin typeface="Century Gothic" panose="020B0502020202020204" pitchFamily="34" charset="0"/>
              </a:rPr>
              <a:t>e.g., les jeux</a:t>
            </a:r>
            <a:r>
              <a:rPr lang="fr-FR" sz="1600" dirty="0">
                <a:latin typeface="Century Gothic" panose="020B0502020202020204" pitchFamily="34" charset="0"/>
              </a:rPr>
              <a:t>)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Dans ces scénarios, le développement mobile natif est souvent la meilleure solution. 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L'optimisation des performances pour une plateforme spécifique nous permet de s'assurer que l'application s'exécute aussi efficacement que possible.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Par contre, l'utilisation de </a:t>
            </a:r>
            <a:r>
              <a:rPr lang="fr-FR" sz="1600" dirty="0" err="1">
                <a:latin typeface="Century Gothic" panose="020B0502020202020204" pitchFamily="34" charset="0"/>
              </a:rPr>
              <a:t>frameworks</a:t>
            </a:r>
            <a:r>
              <a:rPr lang="fr-FR" sz="1600" dirty="0">
                <a:latin typeface="Century Gothic" panose="020B0502020202020204" pitchFamily="34" charset="0"/>
              </a:rPr>
              <a:t> mobiles multiplateformes nécessiterait des efforts supplémentaires outre l’expertise sur les applications mobiles natives.</a:t>
            </a:r>
          </a:p>
        </p:txBody>
      </p:sp>
    </p:spTree>
    <p:extLst>
      <p:ext uri="{BB962C8B-B14F-4D97-AF65-F5344CB8AC3E}">
        <p14:creationId xmlns:p14="http://schemas.microsoft.com/office/powerpoint/2010/main" val="39645914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Comment choisir entre développement mobile natif et développement mobile multiplateforme ? (3)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20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6470" indent="-285750">
              <a:spcBef>
                <a:spcPts val="64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Coûts de développement </a:t>
            </a:r>
            <a:r>
              <a:rPr lang="fr-FR" sz="1600" dirty="0">
                <a:latin typeface="Century Gothic" panose="020B0502020202020204" pitchFamily="34" charset="0"/>
              </a:rPr>
              <a:t>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Certaines entreprises ont des budgets plus élevés que d'autres pour développer des applications mobiles. 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Pour les petits budgets, on opte pour des applications multiplateformes car on n'a besoin que d'une petite équipe.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De plus, le développement mobile multiplateforme nous permet de contrôler les coûts en permettant une meilleure réutilisation du code.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600" b="1" dirty="0">
                <a:latin typeface="Century Gothic" panose="020B0502020202020204" pitchFamily="34" charset="0"/>
              </a:rPr>
              <a:t>UI/UX</a:t>
            </a:r>
            <a:r>
              <a:rPr lang="fr-FR" sz="1600" dirty="0">
                <a:latin typeface="Century Gothic" panose="020B0502020202020204" pitchFamily="34" charset="0"/>
              </a:rPr>
              <a:t>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Certains types d’applications mobiles peuvent nécessiter une expérience utilisateur optimale (e.g., les jeux)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Dans ces scénarios, le développement mobil natif est souvent la meilleur solution.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sz="1600" dirty="0">
                <a:latin typeface="Century Gothic" panose="020B0502020202020204" pitchFamily="34" charset="0"/>
              </a:rPr>
              <a:t>Les interfaces et l’expérience utilisateur sont riches et souples ayant accès aux composants UI/UX fournis par la plateforme ciblée.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19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069733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Aperçu – C’est Quoi Flutter ?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2580918"/>
            <a:ext cx="5384556" cy="3992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700" b="1" strike="noStrike" spc="-1" dirty="0">
                <a:latin typeface="Century Gothic" panose="020B0502020202020204" pitchFamily="34" charset="0"/>
              </a:rPr>
              <a:t>quoi</a:t>
            </a:r>
            <a:r>
              <a:rPr lang="fr-FR" sz="1700" b="0" strike="noStrike" spc="-1" dirty="0">
                <a:latin typeface="Century Gothic" panose="020B0502020202020204" pitchFamily="34" charset="0"/>
              </a:rPr>
              <a:t> </a:t>
            </a:r>
            <a:r>
              <a:rPr lang="en-US" sz="1700" b="0" strike="noStrike" spc="-1" dirty="0">
                <a:latin typeface="Century Gothic" panose="020B0502020202020204" pitchFamily="34" charset="0"/>
              </a:rPr>
              <a:t>: </a:t>
            </a:r>
            <a:r>
              <a:rPr lang="fr-FR" sz="1700" dirty="0">
                <a:latin typeface="Century Gothic" panose="020B0502020202020204" pitchFamily="34" charset="0"/>
              </a:rPr>
              <a:t>un kit de développement (SDK) consistant d’un </a:t>
            </a:r>
            <a:r>
              <a:rPr lang="fr-FR" sz="1700" b="1" i="1" dirty="0" err="1">
                <a:latin typeface="Century Gothic" panose="020B0502020202020204" pitchFamily="34" charset="0"/>
              </a:rPr>
              <a:t>framework</a:t>
            </a:r>
            <a:r>
              <a:rPr lang="fr-FR" sz="1700" dirty="0">
                <a:latin typeface="Century Gothic" panose="020B0502020202020204" pitchFamily="34" charset="0"/>
              </a:rPr>
              <a:t> basé sur le langage de programmation Dart, d’un </a:t>
            </a:r>
            <a:r>
              <a:rPr lang="fr-FR" sz="1700" b="1" i="1" dirty="0">
                <a:latin typeface="Century Gothic" panose="020B0502020202020204" pitchFamily="34" charset="0"/>
              </a:rPr>
              <a:t>moteur de rendering</a:t>
            </a:r>
            <a:r>
              <a:rPr lang="fr-FR" sz="1700" dirty="0">
                <a:latin typeface="Century Gothic" panose="020B0502020202020204" pitchFamily="34" charset="0"/>
              </a:rPr>
              <a:t> écrit en C/C++ et d’un </a:t>
            </a:r>
            <a:r>
              <a:rPr lang="fr-FR" sz="1700" b="1" i="1" dirty="0" err="1">
                <a:latin typeface="Century Gothic" panose="020B0502020202020204" pitchFamily="34" charset="0"/>
              </a:rPr>
              <a:t>embedder</a:t>
            </a:r>
            <a:r>
              <a:rPr lang="fr-FR" sz="1700" dirty="0">
                <a:latin typeface="Century Gothic" panose="020B0502020202020204" pitchFamily="34" charset="0"/>
              </a:rPr>
              <a:t> (</a:t>
            </a:r>
            <a:r>
              <a:rPr lang="fr-FR" sz="1700" i="1" dirty="0">
                <a:latin typeface="Century Gothic" panose="020B0502020202020204" pitchFamily="34" charset="0"/>
              </a:rPr>
              <a:t>spécifique à chaque plateforme</a:t>
            </a:r>
            <a:r>
              <a:rPr lang="fr-FR" sz="1700" dirty="0">
                <a:latin typeface="Century Gothic" panose="020B0502020202020204" pitchFamily="34" charset="0"/>
              </a:rPr>
              <a:t>)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700" b="1" dirty="0">
                <a:latin typeface="Century Gothic" panose="020B0502020202020204" pitchFamily="34" charset="0"/>
              </a:rPr>
              <a:t>qui</a:t>
            </a:r>
            <a:r>
              <a:rPr lang="fr-FR" sz="1700" dirty="0">
                <a:latin typeface="Century Gothic" panose="020B0502020202020204" pitchFamily="34" charset="0"/>
              </a:rPr>
              <a:t> : Google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700" b="1" dirty="0">
                <a:latin typeface="Century Gothic" panose="020B0502020202020204" pitchFamily="34" charset="0"/>
              </a:rPr>
              <a:t>quand</a:t>
            </a:r>
            <a:r>
              <a:rPr lang="fr-FR" sz="1700" dirty="0">
                <a:latin typeface="Century Gothic" panose="020B0502020202020204" pitchFamily="34" charset="0"/>
              </a:rPr>
              <a:t> : 4 décembre 2018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700" b="1" dirty="0">
                <a:latin typeface="Century Gothic" panose="020B0502020202020204" pitchFamily="34" charset="0"/>
              </a:rPr>
              <a:t>pourquoi</a:t>
            </a:r>
            <a:r>
              <a:rPr lang="fr-FR" sz="1700" dirty="0">
                <a:latin typeface="Century Gothic" panose="020B0502020202020204" pitchFamily="34" charset="0"/>
              </a:rPr>
              <a:t> : créer des applications multiplateformes natives à partir d’une seule base de code (</a:t>
            </a:r>
            <a:r>
              <a:rPr lang="fr-FR" sz="1700" i="1" dirty="0">
                <a:latin typeface="Century Gothic" panose="020B0502020202020204" pitchFamily="34" charset="0"/>
              </a:rPr>
              <a:t>clients lourds, clients légers, mobiles</a:t>
            </a:r>
            <a:r>
              <a:rPr lang="fr-FR" sz="1700" dirty="0">
                <a:latin typeface="Century Gothic" panose="020B0502020202020204" pitchFamily="34" charset="0"/>
              </a:rPr>
              <a:t>)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700" b="1" dirty="0">
                <a:latin typeface="Century Gothic" panose="020B0502020202020204" pitchFamily="34" charset="0"/>
              </a:rPr>
              <a:t>installation</a:t>
            </a:r>
            <a:r>
              <a:rPr lang="fr-FR" sz="1700" dirty="0">
                <a:latin typeface="Century Gothic" panose="020B0502020202020204" pitchFamily="34" charset="0"/>
              </a:rPr>
              <a:t> : </a:t>
            </a:r>
            <a:r>
              <a:rPr lang="en-US" sz="1700" u="sng" dirty="0">
                <a:latin typeface="Century Gothic" panose="020B0502020202020204" pitchFamily="34" charset="0"/>
              </a:rPr>
              <a:t>https://docs.flutter.dev/get-started/install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20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40E58AC2-E740-8EFA-651A-19BC6491A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49" y="1686011"/>
            <a:ext cx="2924227" cy="834617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2A802B41-F794-71AE-49FD-3F10213F3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556" y="1576079"/>
            <a:ext cx="6092156" cy="49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8539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Aperçu – Pourquoi Flutter ?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2952707"/>
            <a:ext cx="4652387" cy="33375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Éviter la maintenance de plusieurs bases de code source séparées pour une même application.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Développer plus rapidement, avec moins de coûts, tout en facilitant la disponibilité de l’application sur toutes les plateformes en même temps.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Partager le design et l’expérience utilisateur de l’application à travers les plateformes.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21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40E58AC2-E740-8EFA-651A-19BC6491A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49" y="1686011"/>
            <a:ext cx="2924227" cy="834617"/>
          </a:xfrm>
          <a:prstGeom prst="rect">
            <a:avLst/>
          </a:prstGeom>
        </p:spPr>
      </p:pic>
      <p:pic>
        <p:nvPicPr>
          <p:cNvPr id="6" name="Picture 5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D9FB4BDD-BE47-495D-77B0-60C0E2029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931" y="1912402"/>
            <a:ext cx="7314286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2594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Aperçu – Avantages vs Inconvénients de Flutter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2028243"/>
            <a:ext cx="6096000" cy="43223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Interface Utilisateur flexible et personnalisable (</a:t>
            </a:r>
            <a:r>
              <a:rPr lang="fr-FR" i="1" dirty="0">
                <a:latin typeface="Century Gothic" panose="020B0502020202020204" pitchFamily="34" charset="0"/>
              </a:rPr>
              <a:t>Tout est widget en Flutter</a:t>
            </a:r>
            <a:r>
              <a:rPr lang="fr-FR" dirty="0">
                <a:latin typeface="Century Gothic" panose="020B0502020202020204" pitchFamily="34" charset="0"/>
              </a:rPr>
              <a:t>)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Apprentissage facile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Documentation et ressources d’apprentissage de bonnes qualités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Communauté en pleine croissance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Support à long terme (largement adopté par Google)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Support du hot </a:t>
            </a:r>
            <a:r>
              <a:rPr lang="fr-FR" dirty="0" err="1">
                <a:latin typeface="Century Gothic" panose="020B0502020202020204" pitchFamily="34" charset="0"/>
              </a:rPr>
              <a:t>reload</a:t>
            </a:r>
            <a:r>
              <a:rPr lang="fr-FR" dirty="0">
                <a:latin typeface="Century Gothic" panose="020B0502020202020204" pitchFamily="34" charset="0"/>
              </a:rPr>
              <a:t>/restart pour plus de productivité lors du développement et débogage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Performance optimale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Portabilité à travers six plateformes : Android, iOS, Windows, Mac OS, Linux, et le Web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Internationalisation et accessibilité.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22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6C1EB292-7B0A-3A58-2A66-F4C847EF35B5}"/>
              </a:ext>
            </a:extLst>
          </p:cNvPr>
          <p:cNvSpPr/>
          <p:nvPr/>
        </p:nvSpPr>
        <p:spPr>
          <a:xfrm>
            <a:off x="6071856" y="2028243"/>
            <a:ext cx="6096000" cy="18646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Grande taille d’une application Flutter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Manque de bibliothèques tierces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Adoption relativement faible de Dart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Pas d’utilisation de composants natifs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dirty="0">
                <a:latin typeface="Century Gothic" panose="020B0502020202020204" pitchFamily="34" charset="0"/>
              </a:rPr>
              <a:t>Limitations d’accès aux </a:t>
            </a:r>
            <a:r>
              <a:rPr lang="fr-FR" dirty="0" err="1">
                <a:latin typeface="Century Gothic" panose="020B0502020202020204" pitchFamily="34" charset="0"/>
              </a:rPr>
              <a:t>features</a:t>
            </a:r>
            <a:r>
              <a:rPr lang="fr-FR" dirty="0">
                <a:latin typeface="Century Gothic" panose="020B0502020202020204" pitchFamily="34" charset="0"/>
              </a:rPr>
              <a:t> natives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A0810-DE70-55E5-0A5A-0396C4F80EBC}"/>
              </a:ext>
            </a:extLst>
          </p:cNvPr>
          <p:cNvSpPr txBox="1"/>
          <p:nvPr/>
        </p:nvSpPr>
        <p:spPr>
          <a:xfrm>
            <a:off x="271305" y="1533604"/>
            <a:ext cx="23010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Avantages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E08A5-28F3-EE3F-F066-1FD3868D2EE4}"/>
              </a:ext>
            </a:extLst>
          </p:cNvPr>
          <p:cNvSpPr txBox="1"/>
          <p:nvPr/>
        </p:nvSpPr>
        <p:spPr>
          <a:xfrm>
            <a:off x="6343161" y="1527298"/>
            <a:ext cx="23010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Inconvénients</a:t>
            </a:r>
          </a:p>
        </p:txBody>
      </p:sp>
    </p:spTree>
    <p:extLst>
      <p:ext uri="{BB962C8B-B14F-4D97-AF65-F5344CB8AC3E}">
        <p14:creationId xmlns:p14="http://schemas.microsoft.com/office/powerpoint/2010/main" val="60389597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Dart – Introduction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6189785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définition</a:t>
            </a:r>
            <a:r>
              <a:rPr lang="fr-FR" sz="1800" b="0" strike="noStrike" spc="-1" dirty="0">
                <a:latin typeface="Century Gothic" panose="020B0502020202020204" pitchFamily="34" charset="0"/>
              </a:rPr>
              <a:t> </a:t>
            </a:r>
            <a:r>
              <a:rPr lang="en-US" sz="1800" b="0" strike="noStrike" spc="-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un langage de programmation :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multiplateforme (Windows, Mac OS, Linux)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open-source (licence BSD) et reconnu par le standard ECMA.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syntaxiquement proche à C, Java, et JavaScript avec portée lexicale (lexical </a:t>
            </a:r>
            <a:r>
              <a:rPr lang="fr-FR" dirty="0" err="1">
                <a:latin typeface="Century Gothic" panose="020B0502020202020204" pitchFamily="34" charset="0"/>
              </a:rPr>
              <a:t>scoping</a:t>
            </a:r>
            <a:r>
              <a:rPr lang="fr-FR" dirty="0">
                <a:latin typeface="Century Gothic" panose="020B0502020202020204" pitchFamily="34" charset="0"/>
              </a:rPr>
              <a:t>).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statiquement typé, mais offrant également un support pour le typage dynamique.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orienté-objet (basé sur les classes).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offrant un support pour la programmation fonctionnelle via les </a:t>
            </a:r>
            <a:r>
              <a:rPr lang="fr-FR" dirty="0" err="1">
                <a:latin typeface="Century Gothic" panose="020B0502020202020204" pitchFamily="34" charset="0"/>
              </a:rPr>
              <a:t>closures</a:t>
            </a:r>
            <a:r>
              <a:rPr lang="fr-FR" dirty="0">
                <a:latin typeface="Century Gothic" panose="020B0502020202020204" pitchFamily="34" charset="0"/>
              </a:rPr>
              <a:t>, les fonctions anonymes, etc.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dirty="0">
                <a:latin typeface="Century Gothic" panose="020B0502020202020204" pitchFamily="34" charset="0"/>
              </a:rPr>
              <a:t>offrant un support pour la programmation concurrente via les </a:t>
            </a:r>
            <a:r>
              <a:rPr lang="fr-FR" dirty="0" err="1">
                <a:latin typeface="Century Gothic" panose="020B0502020202020204" pitchFamily="34" charset="0"/>
              </a:rPr>
              <a:t>isolates</a:t>
            </a:r>
            <a:r>
              <a:rPr lang="fr-FR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23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84C009A2-A622-2F51-30DE-738459A81EAB}"/>
              </a:ext>
            </a:extLst>
          </p:cNvPr>
          <p:cNvSpPr/>
          <p:nvPr/>
        </p:nvSpPr>
        <p:spPr>
          <a:xfrm>
            <a:off x="6002215" y="1576080"/>
            <a:ext cx="6189785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pourquoi </a:t>
            </a:r>
            <a:r>
              <a:rPr lang="en-US" sz="1800" b="0" strike="noStrike" spc="-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remplacer JavaScript en surmontant ses limitations pour améliorer ses performances.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quand </a:t>
            </a:r>
            <a:r>
              <a:rPr lang="fr-FR" sz="1800" strike="noStrike" spc="-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première version sortie en 2011 ; première version stable en 2017.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qui</a:t>
            </a:r>
            <a:r>
              <a:rPr lang="fr-FR" dirty="0">
                <a:latin typeface="Century Gothic" panose="020B0502020202020204" pitchFamily="34" charset="0"/>
              </a:rPr>
              <a:t> : créé par la communauté Google et popularisé via Flutter.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>
                <a:latin typeface="Century Gothic" panose="020B0502020202020204" pitchFamily="34" charset="0"/>
              </a:rPr>
              <a:t>où</a:t>
            </a:r>
            <a:r>
              <a:rPr lang="fr-FR" dirty="0">
                <a:latin typeface="Century Gothic" panose="020B0502020202020204" pitchFamily="34" charset="0"/>
              </a:rPr>
              <a:t> : écrire des scripts simples allant jusqu'à la création d'applications complètes (</a:t>
            </a:r>
            <a:r>
              <a:rPr lang="fr-FR" b="1" dirty="0">
                <a:latin typeface="Century Gothic" panose="020B0502020202020204" pitchFamily="34" charset="0"/>
              </a:rPr>
              <a:t>bureau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i="1" dirty="0">
                <a:latin typeface="Century Gothic" panose="020B0502020202020204" pitchFamily="34" charset="0"/>
              </a:rPr>
              <a:t>Windows/Mac OS/Linux</a:t>
            </a:r>
            <a:r>
              <a:rPr lang="fr-FR" dirty="0">
                <a:latin typeface="Century Gothic" panose="020B0502020202020204" pitchFamily="34" charset="0"/>
              </a:rPr>
              <a:t>), </a:t>
            </a:r>
            <a:r>
              <a:rPr lang="fr-FR" b="1" dirty="0">
                <a:latin typeface="Century Gothic" panose="020B0502020202020204" pitchFamily="34" charset="0"/>
              </a:rPr>
              <a:t>web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i="1" dirty="0">
                <a:latin typeface="Century Gothic" panose="020B0502020202020204" pitchFamily="34" charset="0"/>
              </a:rPr>
              <a:t>frontend/backend</a:t>
            </a:r>
            <a:r>
              <a:rPr lang="fr-FR" dirty="0">
                <a:latin typeface="Century Gothic" panose="020B0502020202020204" pitchFamily="34" charset="0"/>
              </a:rPr>
              <a:t>), </a:t>
            </a:r>
            <a:r>
              <a:rPr lang="fr-FR" b="1" dirty="0">
                <a:latin typeface="Century Gothic" panose="020B0502020202020204" pitchFamily="34" charset="0"/>
              </a:rPr>
              <a:t>mobile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i="1" dirty="0">
                <a:latin typeface="Century Gothic" panose="020B0502020202020204" pitchFamily="34" charset="0"/>
              </a:rPr>
              <a:t>Android/iOS</a:t>
            </a:r>
            <a:r>
              <a:rPr lang="fr-FR" dirty="0">
                <a:latin typeface="Century Gothic" panose="020B0502020202020204" pitchFamily="34" charset="0"/>
              </a:rPr>
              <a:t>)).</a:t>
            </a:r>
          </a:p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dirty="0"/>
              <a:t>comment</a:t>
            </a:r>
            <a:r>
              <a:rPr lang="fr-FR" dirty="0"/>
              <a:t> : </a:t>
            </a:r>
            <a:r>
              <a:rPr lang="fr-FR" dirty="0">
                <a:latin typeface="Century Gothic" panose="020B0502020202020204" pitchFamily="34" charset="0"/>
              </a:rPr>
              <a:t>CLI, IDE, ou dans le navigateur (http://dartpad.dev)</a:t>
            </a:r>
          </a:p>
        </p:txBody>
      </p:sp>
    </p:spTree>
    <p:extLst>
      <p:ext uri="{BB962C8B-B14F-4D97-AF65-F5344CB8AC3E}">
        <p14:creationId xmlns:p14="http://schemas.microsoft.com/office/powerpoint/2010/main" val="173382404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Dart – </a:t>
            </a:r>
            <a:r>
              <a:rPr lang="fr-FR" sz="2800" b="1" strike="noStrike" spc="-1" dirty="0" err="1">
                <a:solidFill>
                  <a:srgbClr val="FFFFFF"/>
                </a:solidFill>
                <a:latin typeface="Century Gothic"/>
                <a:ea typeface="ITC Kabel Book"/>
              </a:rPr>
              <a:t>Features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24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4548319-1303-2545-A44C-AF60CAB08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420" y="1729005"/>
            <a:ext cx="6060195" cy="44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2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Dart – Dart Native et Dart Web (1)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6189785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1" strike="noStrike" spc="-1" dirty="0">
                <a:latin typeface="Century Gothic" panose="020B0502020202020204" pitchFamily="34" charset="0"/>
              </a:rPr>
              <a:t>Dart Native</a:t>
            </a:r>
            <a:r>
              <a:rPr lang="fr-FR" sz="1800" b="0" strike="noStrike" spc="-1" dirty="0">
                <a:latin typeface="Century Gothic" panose="020B0502020202020204" pitchFamily="34" charset="0"/>
              </a:rPr>
              <a:t> </a:t>
            </a:r>
            <a:r>
              <a:rPr lang="en-US" sz="1800" b="0" strike="noStrike" spc="-1" dirty="0">
                <a:latin typeface="Century Gothic" panose="020B0502020202020204" pitchFamily="34" charset="0"/>
              </a:rPr>
              <a:t>:</a:t>
            </a:r>
            <a:endParaRPr lang="fr-FR" dirty="0">
              <a:latin typeface="Century Gothic" panose="020B0502020202020204" pitchFamily="34" charset="0"/>
            </a:endParaRP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pourquoi</a:t>
            </a:r>
            <a:r>
              <a:rPr lang="fr-FR" dirty="0">
                <a:latin typeface="Century Gothic" panose="020B0502020202020204" pitchFamily="34" charset="0"/>
              </a:rPr>
              <a:t> : créer des applications bureau ou mobiles.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endParaRPr lang="fr-FR" dirty="0">
              <a:latin typeface="Century Gothic" panose="020B0502020202020204" pitchFamily="34" charset="0"/>
            </a:endParaRP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comment</a:t>
            </a:r>
            <a:r>
              <a:rPr lang="fr-FR" dirty="0">
                <a:latin typeface="Century Gothic" panose="020B0502020202020204" pitchFamily="34" charset="0"/>
              </a:rPr>
              <a:t> : </a:t>
            </a:r>
          </a:p>
          <a:p>
            <a:pPr marL="1258020" lvl="2" indent="-342900">
              <a:spcBef>
                <a:spcPts val="649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Century Gothic" panose="020B0502020202020204" pitchFamily="34" charset="0"/>
              </a:rPr>
              <a:t>compilation </a:t>
            </a:r>
            <a:r>
              <a:rPr lang="fr-FR" b="1" dirty="0">
                <a:latin typeface="Century Gothic" panose="020B0502020202020204" pitchFamily="34" charset="0"/>
              </a:rPr>
              <a:t>Just-in-Time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b="1" dirty="0">
                <a:latin typeface="Century Gothic" panose="020B0502020202020204" pitchFamily="34" charset="0"/>
              </a:rPr>
              <a:t>JIT</a:t>
            </a:r>
            <a:r>
              <a:rPr lang="fr-FR" dirty="0">
                <a:latin typeface="Century Gothic" panose="020B0502020202020204" pitchFamily="34" charset="0"/>
              </a:rPr>
              <a:t>) avec la machine virtuelle Dart VM lors du développement qui convertit le code </a:t>
            </a:r>
            <a:r>
              <a:rPr lang="fr-FR" dirty="0" err="1">
                <a:latin typeface="Century Gothic" panose="020B0502020202020204" pitchFamily="34" charset="0"/>
              </a:rPr>
              <a:t>bytecode</a:t>
            </a:r>
            <a:r>
              <a:rPr lang="fr-FR" dirty="0">
                <a:latin typeface="Century Gothic" panose="020B0502020202020204" pitchFamily="34" charset="0"/>
              </a:rPr>
              <a:t> en code machine natif.</a:t>
            </a:r>
          </a:p>
          <a:p>
            <a:pPr marL="1258020" lvl="2" indent="-342900">
              <a:spcBef>
                <a:spcPts val="649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fr-FR" dirty="0">
                <a:latin typeface="Century Gothic" panose="020B0502020202020204" pitchFamily="34" charset="0"/>
              </a:rPr>
              <a:t>compilation </a:t>
            </a:r>
            <a:r>
              <a:rPr lang="fr-FR" b="1" dirty="0" err="1">
                <a:latin typeface="Century Gothic" panose="020B0502020202020204" pitchFamily="34" charset="0"/>
              </a:rPr>
              <a:t>Ahead</a:t>
            </a:r>
            <a:r>
              <a:rPr lang="fr-FR" b="1" dirty="0">
                <a:latin typeface="Century Gothic" panose="020B0502020202020204" pitchFamily="34" charset="0"/>
              </a:rPr>
              <a:t> of Time</a:t>
            </a:r>
            <a:r>
              <a:rPr lang="fr-FR" dirty="0">
                <a:latin typeface="Century Gothic" panose="020B0502020202020204" pitchFamily="34" charset="0"/>
              </a:rPr>
              <a:t> (</a:t>
            </a:r>
            <a:r>
              <a:rPr lang="fr-FR" b="1" dirty="0">
                <a:latin typeface="Century Gothic" panose="020B0502020202020204" pitchFamily="34" charset="0"/>
              </a:rPr>
              <a:t>AOT</a:t>
            </a:r>
            <a:r>
              <a:rPr lang="fr-FR" dirty="0">
                <a:latin typeface="Century Gothic" panose="020B0502020202020204" pitchFamily="34" charset="0"/>
              </a:rPr>
              <a:t>) pour produire du code machine lors du </a:t>
            </a:r>
            <a:r>
              <a:rPr lang="fr-FR" dirty="0" err="1">
                <a:latin typeface="Century Gothic" panose="020B0502020202020204" pitchFamily="34" charset="0"/>
              </a:rPr>
              <a:t>build</a:t>
            </a:r>
            <a:r>
              <a:rPr lang="fr-FR" dirty="0">
                <a:latin typeface="Century Gothic" panose="020B0502020202020204" pitchFamily="34" charset="0"/>
              </a:rPr>
              <a:t> de l'application.</a:t>
            </a:r>
          </a:p>
          <a:p>
            <a:pPr marL="1258020" lvl="2" indent="-342900">
              <a:spcBef>
                <a:spcPts val="649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25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84C009A2-A622-2F51-30DE-738459A81EAB}"/>
              </a:ext>
            </a:extLst>
          </p:cNvPr>
          <p:cNvSpPr/>
          <p:nvPr/>
        </p:nvSpPr>
        <p:spPr>
          <a:xfrm>
            <a:off x="6002215" y="1576080"/>
            <a:ext cx="6189785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120">
              <a:spcBef>
                <a:spcPts val="649"/>
              </a:spcBef>
              <a:buClr>
                <a:srgbClr val="000000"/>
              </a:buClr>
              <a:buFont typeface="Arial"/>
              <a:buChar char="•"/>
            </a:pPr>
            <a:r>
              <a:rPr lang="fr-FR" b="1" strike="noStrike" spc="-1" dirty="0">
                <a:latin typeface="Century Gothic" panose="020B0502020202020204" pitchFamily="34" charset="0"/>
              </a:rPr>
              <a:t>Dart Web </a:t>
            </a:r>
            <a:r>
              <a:rPr lang="en-US" b="0" strike="noStrike" spc="-1" dirty="0">
                <a:latin typeface="Century Gothic" panose="020B0502020202020204" pitchFamily="34" charset="0"/>
              </a:rPr>
              <a:t>:</a:t>
            </a:r>
            <a:endParaRPr lang="fr-FR" dirty="0">
              <a:latin typeface="Century Gothic" panose="020B0502020202020204" pitchFamily="34" charset="0"/>
            </a:endParaRP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strike="noStrike" spc="-1" dirty="0">
                <a:latin typeface="Century Gothic" panose="020B0502020202020204" pitchFamily="34" charset="0"/>
              </a:rPr>
              <a:t>pourquoi </a:t>
            </a:r>
            <a:r>
              <a:rPr lang="fr-FR" strike="noStrike" spc="-1" dirty="0">
                <a:latin typeface="Century Gothic" panose="020B0502020202020204" pitchFamily="34" charset="0"/>
              </a:rPr>
              <a:t>: </a:t>
            </a:r>
            <a:r>
              <a:rPr lang="fr-FR" dirty="0">
                <a:latin typeface="Century Gothic" panose="020B0502020202020204" pitchFamily="34" charset="0"/>
              </a:rPr>
              <a:t>créer des applications Web.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endParaRPr lang="fr-FR" dirty="0">
              <a:latin typeface="Century Gothic" panose="020B0502020202020204" pitchFamily="34" charset="0"/>
            </a:endParaRP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comment</a:t>
            </a:r>
            <a:r>
              <a:rPr lang="fr-FR" dirty="0">
                <a:latin typeface="Century Gothic" panose="020B0502020202020204" pitchFamily="34" charset="0"/>
              </a:rPr>
              <a:t> :</a:t>
            </a:r>
          </a:p>
          <a:p>
            <a:pPr marL="1258020" lvl="2" indent="-342900">
              <a:spcBef>
                <a:spcPts val="649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fr-FR" b="1" dirty="0" err="1">
                <a:latin typeface="Century Gothic" panose="020B0502020202020204" pitchFamily="34" charset="0"/>
              </a:rPr>
              <a:t>dartdev</a:t>
            </a:r>
            <a:r>
              <a:rPr lang="fr-FR" dirty="0">
                <a:latin typeface="Century Gothic" panose="020B0502020202020204" pitchFamily="34" charset="0"/>
              </a:rPr>
              <a:t> : compilateur pour exécuter et déboguer les applications web Dart sur le moteur Chrome lors du développement.</a:t>
            </a:r>
          </a:p>
          <a:p>
            <a:pPr marL="1258020" lvl="2" indent="-342900">
              <a:spcBef>
                <a:spcPts val="649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fr-FR" b="1" dirty="0">
                <a:latin typeface="Century Gothic" panose="020B0502020202020204" pitchFamily="34" charset="0"/>
              </a:rPr>
              <a:t>dart2js</a:t>
            </a:r>
            <a:r>
              <a:rPr lang="fr-FR" dirty="0">
                <a:latin typeface="Century Gothic" panose="020B0502020202020204" pitchFamily="34" charset="0"/>
              </a:rPr>
              <a:t> : compilateur pour transformer le code de l'application Web en code JavaScript optimisé portable sur tous les navigateurs lors de la production.</a:t>
            </a:r>
          </a:p>
          <a:p>
            <a:pPr marL="800820" lvl="1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applications</a:t>
            </a:r>
            <a:r>
              <a:rPr lang="fr-FR" dirty="0">
                <a:latin typeface="Century Gothic" panose="020B0502020202020204" pitchFamily="34" charset="0"/>
              </a:rPr>
              <a:t> : Flutter, </a:t>
            </a:r>
            <a:r>
              <a:rPr lang="fr-FR" dirty="0" err="1">
                <a:latin typeface="Century Gothic" panose="020B0502020202020204" pitchFamily="34" charset="0"/>
              </a:rPr>
              <a:t>AngularDart</a:t>
            </a:r>
            <a:r>
              <a:rPr lang="fr-FR" dirty="0">
                <a:latin typeface="Century Gothic" panose="020B0502020202020204" pitchFamily="34" charset="0"/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98802563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Dart – Dart Native et Dart Web (2)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26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4" name="CustomShape 4">
            <a:extLst>
              <a:ext uri="{FF2B5EF4-FFF2-40B4-BE49-F238E27FC236}">
                <a16:creationId xmlns:a16="http://schemas.microsoft.com/office/drawing/2014/main" id="{2CBE3307-2247-9751-E6F9-15F6CC12427C}"/>
              </a:ext>
            </a:extLst>
          </p:cNvPr>
          <p:cNvSpPr/>
          <p:nvPr/>
        </p:nvSpPr>
        <p:spPr>
          <a:xfrm>
            <a:off x="480960" y="657504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90000"/>
              </a:lnSpc>
            </a:pPr>
            <a:r>
              <a:rPr lang="fr-FR" sz="900" b="1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Introduction à la programmation multiplateforme native avec Flutter</a:t>
            </a:r>
            <a:endParaRPr lang="fr-FR" sz="900" b="0" strike="noStrike" spc="-1" dirty="0">
              <a:latin typeface="Arial"/>
            </a:endParaRP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C81BBF70-FFC2-639E-C635-DCE9022BF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117" y="1738312"/>
            <a:ext cx="9266231" cy="469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58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84200" y="471240"/>
            <a:ext cx="10028880" cy="54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latin typeface="Century Gothic"/>
                <a:ea typeface="ITC Kabel Book"/>
              </a:rPr>
              <a:t>Références et Liens Utiles</a:t>
            </a:r>
            <a:endParaRPr lang="fr-FR" sz="2800" b="0" strike="noStrike" spc="-1" dirty="0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1576080"/>
            <a:ext cx="12191400" cy="499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Flutter Documentation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  <a:hlinkClick r:id="rId2"/>
              </a:rPr>
              <a:t>https://docs.flutter.dev/</a:t>
            </a:r>
            <a:endParaRPr lang="en-US" spc="-1" dirty="0">
              <a:solidFill>
                <a:srgbClr val="000000"/>
              </a:solidFill>
              <a:latin typeface="Century Gothic" panose="020B0502020202020204" pitchFamily="34" charset="0"/>
              <a:ea typeface="MS Mincho"/>
            </a:endParaRP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Flutter Install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https://docs.flutter.dev/get-started/install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Native vs cross-platform mobile app development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https://circleci.com/blog/native-vs-cross-platform-mobile-dev/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Native vs cross-platform development: pros &amp; cons revealed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https://www.uptech.team/blog/native-vs-cross-platform-app-development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Dart – Data Types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https://www.geeksforgeeks.org/dart-data-types/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Operators in Dart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https://www.geeksforgeeks.org/operators-in-dart/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Strings in Dart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https://www.geeksforgeeks.org/strings-in-dart/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Dart Programming Language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https://www.javatpoint.com/dart-programming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Flutter Tutorial for Beginners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https://www.youtube.com/playlist?list=PL4cUxeGkcC9jLYyp2Aoh6hcWuxFDX6PBJ</a:t>
            </a:r>
            <a:endParaRPr lang="en-US" u="sng" dirty="0">
              <a:latin typeface="Century Gothic" panose="020B0502020202020204" pitchFamily="34" charset="0"/>
            </a:endParaRP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b="1" dirty="0">
                <a:latin typeface="Century Gothic" panose="020B0502020202020204" pitchFamily="34" charset="0"/>
              </a:rPr>
              <a:t>Flutter Course for Beginners – 37-hour Cross Platform App Development Tutorial</a:t>
            </a:r>
            <a:r>
              <a:rPr lang="en-US" dirty="0">
                <a:latin typeface="Century Gothic" panose="020B0502020202020204" pitchFamily="34" charset="0"/>
              </a:rPr>
              <a:t> : </a:t>
            </a:r>
            <a:r>
              <a:rPr lang="en-US" u="sng" dirty="0">
                <a:latin typeface="Century Gothic" panose="020B0502020202020204" pitchFamily="34" charset="0"/>
              </a:rPr>
              <a:t>https://www.youtube.com/watch?v=VPvVD8t02U8</a:t>
            </a:r>
          </a:p>
          <a:p>
            <a:pPr marL="343620" indent="-342900">
              <a:spcBef>
                <a:spcPts val="649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fr-FR" b="1" dirty="0">
                <a:latin typeface="Century Gothic" panose="020B0502020202020204" pitchFamily="34" charset="0"/>
              </a:rPr>
              <a:t>Développement Mobile Natif : Flutter</a:t>
            </a:r>
            <a:r>
              <a:rPr lang="fr-FR" dirty="0">
                <a:latin typeface="Century Gothic" panose="020B0502020202020204" pitchFamily="34" charset="0"/>
              </a:rPr>
              <a:t> – cours par Abderrahmane Seriai</a:t>
            </a:r>
            <a:endParaRPr lang="en-US" spc="-1" dirty="0">
              <a:solidFill>
                <a:srgbClr val="000000"/>
              </a:solidFill>
              <a:latin typeface="Century Gothic" panose="020B0502020202020204" pitchFamily="34" charset="0"/>
              <a:ea typeface="MS Mincho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11169720" y="6574320"/>
            <a:ext cx="44532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E92D01FA-C41C-4FED-8BC7-63E17ED751AF}" type="slidenum">
              <a:rPr lang="fr-FR" sz="1000" b="0" strike="noStrike" spc="-1">
                <a:solidFill>
                  <a:srgbClr val="FFFFFF"/>
                </a:solidFill>
                <a:latin typeface="Century Gothic"/>
              </a:rPr>
              <a:t>27</a:t>
            </a:fld>
            <a:endParaRPr lang="fr-FR" sz="1000" b="0" strike="noStrike" spc="-1">
              <a:latin typeface="Arial"/>
            </a:endParaRPr>
          </a:p>
        </p:txBody>
      </p:sp>
      <p:sp>
        <p:nvSpPr>
          <p:cNvPr id="146" name="CustomShape 4"/>
          <p:cNvSpPr/>
          <p:nvPr/>
        </p:nvSpPr>
        <p:spPr>
          <a:xfrm>
            <a:off x="480960" y="6574320"/>
            <a:ext cx="10535400" cy="28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r>
              <a:rPr lang="en-US" sz="900" strike="noStrike" spc="-1" dirty="0" err="1">
                <a:solidFill>
                  <a:srgbClr val="FFFFFF"/>
                </a:solidFill>
                <a:latin typeface="Century Gothic"/>
                <a:ea typeface="Euclid Flex B Medium"/>
              </a:rPr>
              <a:t>SoftScanner</a:t>
            </a:r>
            <a:r>
              <a:rPr lang="en-US" sz="900" strike="noStrike" spc="-1" dirty="0">
                <a:solidFill>
                  <a:srgbClr val="FFFFFF"/>
                </a:solidFill>
                <a:latin typeface="Century Gothic"/>
                <a:ea typeface="Euclid Flex B Medium"/>
              </a:rPr>
              <a:t>: A Log-centric Software Analysis and Engineering Ecosystem</a:t>
            </a:r>
            <a:endParaRPr lang="en-US" sz="90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561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62E95"/>
      </a:dk2>
      <a:lt2>
        <a:srgbClr val="FFFFFF"/>
      </a:lt2>
      <a:accent1>
        <a:srgbClr val="FFD040"/>
      </a:accent1>
      <a:accent2>
        <a:srgbClr val="9085BE"/>
      </a:accent2>
      <a:accent3>
        <a:srgbClr val="CA1D34"/>
      </a:accent3>
      <a:accent4>
        <a:srgbClr val="F05327"/>
      </a:accent4>
      <a:accent5>
        <a:srgbClr val="0A905D"/>
      </a:accent5>
      <a:accent6>
        <a:srgbClr val="6A2E91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62E95"/>
      </a:dk2>
      <a:lt2>
        <a:srgbClr val="FFFFFF"/>
      </a:lt2>
      <a:accent1>
        <a:srgbClr val="FFD040"/>
      </a:accent1>
      <a:accent2>
        <a:srgbClr val="9085BE"/>
      </a:accent2>
      <a:accent3>
        <a:srgbClr val="CA1D34"/>
      </a:accent3>
      <a:accent4>
        <a:srgbClr val="F05327"/>
      </a:accent4>
      <a:accent5>
        <a:srgbClr val="0A905D"/>
      </a:accent5>
      <a:accent6>
        <a:srgbClr val="6A2E91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22D35F327DB441ABE43FB3790AC011" ma:contentTypeVersion="35" ma:contentTypeDescription="Crée un document." ma:contentTypeScope="" ma:versionID="d2033d8c00c8d0de18607030bf4fb5c4">
  <xsd:schema xmlns:xsd="http://www.w3.org/2001/XMLSchema" xmlns:xs="http://www.w3.org/2001/XMLSchema" xmlns:p="http://schemas.microsoft.com/office/2006/metadata/properties" xmlns:ns2="f12d6b6e-3bd7-4cfc-bf7a-f0cf951c2f07" xmlns:ns3="d961a904-6fb0-415e-acff-de424912e6f1" targetNamespace="http://schemas.microsoft.com/office/2006/metadata/properties" ma:root="true" ma:fieldsID="41a02524298ba62db7b81e7c834d463f" ns2:_="" ns3:_="">
    <xsd:import namespace="f12d6b6e-3bd7-4cfc-bf7a-f0cf951c2f07"/>
    <xsd:import namespace="d961a904-6fb0-415e-acff-de424912e6f1"/>
    <xsd:element name="properties">
      <xsd:complexType>
        <xsd:sequence>
          <xsd:element name="documentManagement">
            <xsd:complexType>
              <xsd:all>
                <xsd:element ref="ns2:e5dh" minOccurs="0"/>
                <xsd:element ref="ns2:qp5z" minOccurs="0"/>
                <xsd:element ref="ns2:p1jr" minOccurs="0"/>
                <xsd:element ref="ns2:ProgrammedeRecherch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Description" minOccurs="0"/>
                <xsd:element ref="ns2:Verrou" minOccurs="0"/>
                <xsd:element ref="ns3:TaxCatchAll" minOccurs="0"/>
                <xsd:element ref="ns2:lcf76f155ced4ddcb4097134ff3c332f" minOccurs="0"/>
                <xsd:element ref="ns2:Responsabl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d6b6e-3bd7-4cfc-bf7a-f0cf951c2f07" elementFormDefault="qualified">
    <xsd:import namespace="http://schemas.microsoft.com/office/2006/documentManagement/types"/>
    <xsd:import namespace="http://schemas.microsoft.com/office/infopath/2007/PartnerControls"/>
    <xsd:element name="e5dh" ma:index="2" nillable="true" ma:displayName="BU" ma:internalName="e5dh" ma:readOnly="false">
      <xsd:simpleType>
        <xsd:restriction base="dms:Text"/>
      </xsd:simpleType>
    </xsd:element>
    <xsd:element name="qp5z" ma:index="3" nillable="true" ma:displayName="Responsable" ma:list="UserInfo" ma:internalName="qp5z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1jr" ma:index="4" nillable="true" ma:displayName="Date et heure" ma:internalName="p1jr" ma:readOnly="false">
      <xsd:simpleType>
        <xsd:restriction base="dms:DateTime"/>
      </xsd:simpleType>
    </xsd:element>
    <xsd:element name="ProgrammedeRecherche" ma:index="5" nillable="true" ma:displayName="Programme de Recherche" ma:format="Dropdown" ma:internalName="ProgrammedeRecherche" ma:readOnly="false">
      <xsd:simpleType>
        <xsd:restriction base="dms:Choice">
          <xsd:enumeration value="BL_RETD_PHILO"/>
          <xsd:enumeration value="BL_RETD_ARCHI"/>
          <xsd:enumeration value="BL_RETD_TRACES"/>
          <xsd:enumeration value="BL_RETD_IA"/>
          <xsd:enumeration value="BL_RETD_PERSONNESAGEES"/>
          <xsd:enumeration value="BL_RETD_OPTIMISATION"/>
          <xsd:enumeration value="BL_RETD_IHM"/>
          <xsd:enumeration value="BL_RETD_INTEROPERABLITE"/>
          <xsd:enumeration value="BL_RETD_DEVOPS"/>
          <xsd:enumeration value="CARL_RETD_ARCHI"/>
          <xsd:enumeration value="CARL_RETD_WORLDSENSING"/>
          <xsd:enumeration value="CARL_RETD_CITYSYSTEMIC"/>
          <xsd:enumeration value="CARL_RETD_IAASSETMANAGEMENT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7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1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4" nillable="true" ma:displayName="Length (seconds)" ma:hidden="true" ma:internalName="MediaLengthInSeconds" ma:readOnly="true">
      <xsd:simpleType>
        <xsd:restriction base="dms:Unknown"/>
      </xsd:simpleType>
    </xsd:element>
    <xsd:element name="Description" ma:index="25" nillable="true" ma:displayName="Description " ma:format="Dropdown" ma:hidden="true" ma:internalName="Description" ma:readOnly="false">
      <xsd:simpleType>
        <xsd:restriction base="dms:Text">
          <xsd:maxLength value="255"/>
        </xsd:restriction>
      </xsd:simpleType>
    </xsd:element>
    <xsd:element name="Verrou" ma:index="26" nillable="true" ma:displayName="Verrou" ma:description="Code du/des Verrous CIR associés" ma:format="Dropdown" ma:internalName="Verrou">
      <xsd:simpleType>
        <xsd:restriction base="dms:Text">
          <xsd:maxLength value="255"/>
        </xsd:restriction>
      </xsd:simpleType>
    </xsd:element>
    <xsd:element name="lcf76f155ced4ddcb4097134ff3c332f" ma:index="29" nillable="true" ma:taxonomy="true" ma:internalName="lcf76f155ced4ddcb4097134ff3c332f" ma:taxonomyFieldName="MediaServiceImageTags" ma:displayName="Balises d’images" ma:readOnly="false" ma:fieldId="{5cf76f15-5ced-4ddc-b409-7134ff3c332f}" ma:taxonomyMulti="true" ma:sspId="76d06359-ffef-4549-9276-0f144f4d9e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Responsables" ma:index="30" nillable="true" ma:displayName="Responsables" ma:format="Dropdown" ma:list="UserInfo" ma:SharePointGroup="0" ma:internalName="Responsable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61a904-6fb0-415e-acff-de424912e6f1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Partagé avec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Partagé avec détails" ma:hidden="true" ma:internalName="SharedWithDetails" ma:readOnly="true">
      <xsd:simpleType>
        <xsd:restriction base="dms:Note"/>
      </xsd:simpleType>
    </xsd:element>
    <xsd:element name="TaxCatchAll" ma:index="27" nillable="true" ma:displayName="Taxonomy Catch All Column" ma:hidden="true" ma:list="{e427d602-65c0-4769-a43e-979426532c44}" ma:internalName="TaxCatchAll" ma:showField="CatchAllData" ma:web="d961a904-6fb0-415e-acff-de424912e6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C35D3E-95C8-4141-BD90-6E28A3BFF3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2d6b6e-3bd7-4cfc-bf7a-f0cf951c2f07"/>
    <ds:schemaRef ds:uri="d961a904-6fb0-415e-acff-de424912e6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A3DC7D-7771-486F-862E-596B5A3737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Modele_PPT_Berger_Levrault</Template>
  <TotalTime>9490</TotalTime>
  <Words>2747</Words>
  <Application>Microsoft Office PowerPoint</Application>
  <PresentationFormat>Widescreen</PresentationFormat>
  <Paragraphs>244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Century Gothic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BERGER-LEVRAULT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BOUSQUET Aurelie</dc:creator>
  <dc:description/>
  <cp:lastModifiedBy>Bashar Rima</cp:lastModifiedBy>
  <cp:revision>1175</cp:revision>
  <dcterms:created xsi:type="dcterms:W3CDTF">2017-04-05T13:14:55Z</dcterms:created>
  <dcterms:modified xsi:type="dcterms:W3CDTF">2025-11-04T12:09:38Z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BERGER-LEVRAULT</vt:lpwstr>
  </property>
  <property fmtid="{D5CDD505-2E9C-101B-9397-08002B2CF9AE}" pid="4" name="ContentTypeId">
    <vt:lpwstr>0x010100A008C58D49B60440AA9E9CA16F7D02F1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Widescreen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27</vt:i4>
  </property>
</Properties>
</file>